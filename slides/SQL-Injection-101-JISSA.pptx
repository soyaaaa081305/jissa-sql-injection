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Before anything else: everything you will see today runs on this laptop only. It is a local copy of our Blackboard login page, served from 127.0.0.1 — it is not the real site, there is no real student record, and nothing leaves this machine. Goal for the next 4 minutes: understand what SQL injection is, watch four real attacks, and learn the one coding habit that stops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agenda quickly. Emphasise that no programming background is required — the whole talk reduces to one idea: the database is asked a question, and an attacker changes the question. Mention that slide 3 and 4 are the only technical slides; everything after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query line by line: SELECT * means “give me everything about the account”, FROM users means “look in the users table”, and the WHERE clause is the actual question. Two possible answers: a row comes back (login succeeds) or it does not (login fails). Ask the audience to remember this: everything later is about changing the WHERE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backticks and the ${} placeholders. Explain: the developer built the query by string concatenation, assuming the user would only ever type a name and a password. The database engine receives one flat line of text and parses it — it cannot tell where your data ends and the query begins. This is exactly what OWASP calls Injection (A03), and it has been in the Top 10 since the list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payload and it is decades old. Break it into three pieces: the single quote closes the value we were supposed to type; OR 1=1 adds a condition that is always true; the double dash comments out the rest of the line so the real password comparison is never evaluated. Note the precedence rule: AND binds tighter than OR, so the query becomes (id=1 AND password='') OR (1=1), and the right-hand side is unconditionally true. In the live demo this is mode 03 and it costs exactly one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rule 3: commenting is what makes injection so powerful — it lets the attacker delete the part of the query they do not want to run. Then read the navy banner: SQL injection is not a bug in MySQL/PostgreSQL/SQLite, it is a bug in the program that built the query. That is why the fix belongs in the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exactly the lab panel the audience will see. Suggest running them in this order during the demo: 03 first (instant wow), 04 (they take the whole table), 01 as the finale (the password visibly assembles itself in the Recovered password field), then 02 as a bonus. Every run ends by auto-filling the real login form and pressing Sign In — the Courses page only loads because the server genuinely accepted the credentials. The panel has an endpoint switch at the top: Vulnerable vs Parameterised. Running the same mode against the parameterised endpoint is the live proof for the fix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script for mode 01. Two things to say while it runs: (1) the attacker never sees the password — there is no “here it is” screen; they only ever get yes or no, and they reconstruct the secret from those answers; (2) about 86 requests and roughly five seconds at normal speed. Then point at the value: “that string came out of the database, character by character, and the form below it is now being filled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of the talk, but keep it simple. The app has two failure messages: “Invalid username” when the lookup found nobody, and “Invalid password” when it found somebody. An attacker deliberately makes the lookup succeed or fail depending on a condition they choose — so the error message becomes a truth oracle. Binary search means we do not try every character: 7 yes/no questions cover the 95 printable ASCII characters. Emphasise: no output window, no error dump, no logging needed — this works even on a well-built site that hides its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 do not dwell. The important contrast is UNION vs blind: UNION needs somewhere for the answer to be displayed, blind does not. Mention time-based briefly because it is the one that needs no distinct error messages at all: the attacker just measures how long the page takes. End on the last card: stacked queries are how a read-only injection becomes data destruction, and how it escalates to running commands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factual rather than dramatic. The key teaching point is escalation: an attacker who can only SELECT is annoying; one who can run stacked statements can drop tables or create a new administrator. In the Philippines the Data Privacy Act applies to personal data breaches, so this is also a legal and academic-integrity issue — not just a technical one. Reinforce that the OWASP Top 10 is what the industry actually tests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from the attack section to the fix. The code above is ordinary ASP.NET Web Forms code-behind — the kind of thing you will write in your Database 2 and application-development subjects. Walk through it and point out that the SQL string is built in the same file as the textboxes. Three separate problems, and students usually only spot the first one. (1) It concatenates user input, so it is injectable — the same bug as slide 4, just in C#. (2) The UI layer now has to know the table name, every column name and the connection string. Rename one column in SSMS and this page breaks — and so does every other page that copied the same string. (3) The query text changes on every single click, so SQL Server cannot reuse a cached plan. That third one is the efficiency argument, and it is what the next slide fixes. Ask the audience: what should the front end actually know about the database? Answer: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columns left to right as a request travelling inward. Column 1, the front end: all it does is collect two strings and hand them to the back end. It cannot leak the schema because it never sees it. Column 2, the back end: this is the only file that knows a table exists. The query is a constant string, and @sn and @ph are placeholders — the values travel to SQL Server in a separate parameters collection, never inside the SQL text. That is what makes it safe: a quote in the password is just a character inside a value, not a chance to rewrite the query. Column 3, SSMS: the schema lives in the database, where it belongs. Rename a column here and you edit one file, not every page in the project. Say the efficiency point out loud — it is the part students forget. Because the query text is identical on every login, SQL Server caches one execution plan and reuses it; the string-concatenation version hands it a brand-new query each time and pays to parse and plan it again. The same idea appears as a stored procedure (dbo.usp_Login with @sn and @ph) if you would rather keep the SQL in the database. The syntax is identical in MySQL (PDO prepared statements), PostgreSQL (Npgsql) and Java (PreparedStatement) — the pattern does not change. Tie it to the course: this is exactly what Database 2 drills — ADO.NET, SqlCommand, and parameterised queries as the default, not the exception. Then SWITCH TO THE LIVE LAB: the panel has an endpoint switch. Re-run the same payload against the parameterised endpoint and the payload is listed underneath as bound data, not inside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of the whole talk. Show both boxes side by side: the only difference is that the second one sends the query structure and the values separately, so a quote inside a value is just a quote. Parameterised queries (prepared statements) defeat every INJECTION attack in this deck — bypass, UNION and blind alike — because there is no longer any way to make the database treat data as code. NOW SWITCH TO THE LIVE DEMO: the lab panel has an endpoint switch (Vulnerable / Parameterised). Re-run mode 03 against the parameterised endpoint. Same payload, same form, one request, and the panel reports “Nothing was exploited.” Point at the query view: the payload is no longer inside the SQL — it is listed underneath as bound data. Be honest about the limit: switching the endpoint does NOT stop mode 02. Guessing the real password still logs in, because that was never injection. Which is why the next four bullets matter — parameterisation fixes injection; hashing, least privilege, generic errors and allow-lists reduce the blast radius of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the most important slide of the session. Everything demonstrated today happened on a local simulation of a login page, on one machine, with no real data. The same payloads pointed at a system you do not own, without written authorisation, is a criminal offence in the Philippines under RA 10175 regardless of intent or harm caused. Encourage the audience to build their own lab and to disclose findings responsibly. Close by naming where they can legally practise.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it closes the value the app meant to treat as data, so the rest of what you type is parsed as query, and the double dash comments out the password check. Q2: because the only feedback is yes/no, so it is binary search — roughly 7 questions per character plus the length. Q3: a parameterised query / prepared statement (hashing passwords is the bonus answer). Q4: the back end only. The front end should send values and render results — it should never know a table or column name. Then invite questions and mention the hands-on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D38"/>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E2231A"/>
          </a:solidFill>
          <a:ln/>
        </p:spPr>
      </p:sp>
      <p:sp>
        <p:nvSpPr>
          <p:cNvPr id="3" name="Shape 1"/>
          <p:cNvSpPr/>
          <p:nvPr/>
        </p:nvSpPr>
        <p:spPr>
          <a:xfrm>
            <a:off x="640080" y="960120"/>
            <a:ext cx="2286000" cy="365760"/>
          </a:xfrm>
          <a:prstGeom prst="roundRect">
            <a:avLst>
              <a:gd name="adj" fmla="val 20000"/>
            </a:avLst>
          </a:prstGeom>
          <a:solidFill>
            <a:srgbClr val="1A1030"/>
          </a:solidFill>
          <a:ln w="12700">
            <a:solidFill>
              <a:srgbClr val="FF5F56"/>
            </a:solidFill>
            <a:prstDash val="solid"/>
          </a:ln>
        </p:spPr>
      </p:sp>
      <p:sp>
        <p:nvSpPr>
          <p:cNvPr id="4" name="Text 2"/>
          <p:cNvSpPr/>
          <p:nvPr/>
        </p:nvSpPr>
        <p:spPr>
          <a:xfrm>
            <a:off x="640080" y="960120"/>
            <a:ext cx="2286000" cy="365760"/>
          </a:xfrm>
          <a:prstGeom prst="rect">
            <a:avLst/>
          </a:prstGeom>
          <a:noFill/>
          <a:ln/>
        </p:spPr>
        <p:txBody>
          <a:bodyPr wrap="square" rtlCol="0" anchor="ctr"/>
          <a:lstStyle/>
          <a:p>
            <a:pPr algn="ctr" indent="0" marL="0">
              <a:buNone/>
            </a:pPr>
            <a:r>
              <a:rPr lang="en-US" sz="1000" b="1" dirty="0">
                <a:solidFill>
                  <a:srgbClr val="FF5F56"/>
                </a:solidFill>
                <a:latin typeface="Consolas" pitchFamily="34" charset="0"/>
                <a:ea typeface="Consolas" pitchFamily="34" charset="-122"/>
                <a:cs typeface="Consolas" pitchFamily="34" charset="-120"/>
              </a:rPr>
              <a:t>JISSA · GENERAL ASSEMBLY</a:t>
            </a:r>
            <a:endParaRPr lang="en-US" sz="1000" dirty="0"/>
          </a:p>
        </p:txBody>
      </p:sp>
      <p:sp>
        <p:nvSpPr>
          <p:cNvPr id="5" name="Text 3"/>
          <p:cNvSpPr/>
          <p:nvPr/>
        </p:nvSpPr>
        <p:spPr>
          <a:xfrm>
            <a:off x="640080" y="1554480"/>
            <a:ext cx="7863840" cy="1005840"/>
          </a:xfrm>
          <a:prstGeom prst="rect">
            <a:avLst/>
          </a:prstGeom>
          <a:noFill/>
          <a:ln/>
        </p:spPr>
        <p:txBody>
          <a:bodyPr wrap="square" rtlCol="0" anchor="ctr"/>
          <a:lstStyle/>
          <a:p>
            <a:pPr indent="0" marL="0">
              <a:buNone/>
            </a:pPr>
            <a:r>
              <a:rPr lang="en-US" sz="5400" b="1" dirty="0">
                <a:solidFill>
                  <a:srgbClr val="FFFFFF"/>
                </a:solidFill>
                <a:latin typeface="Segoe UI" pitchFamily="34" charset="0"/>
                <a:ea typeface="Segoe UI" pitchFamily="34" charset="-122"/>
                <a:cs typeface="Segoe UI" pitchFamily="34" charset="-120"/>
              </a:rPr>
              <a:t>SQL Injection 101</a:t>
            </a:r>
            <a:endParaRPr lang="en-US" sz="5400" dirty="0"/>
          </a:p>
        </p:txBody>
      </p:sp>
      <p:sp>
        <p:nvSpPr>
          <p:cNvPr id="6" name="Text 4"/>
          <p:cNvSpPr/>
          <p:nvPr/>
        </p:nvSpPr>
        <p:spPr>
          <a:xfrm>
            <a:off x="658368" y="2578608"/>
            <a:ext cx="7680960" cy="457200"/>
          </a:xfrm>
          <a:prstGeom prst="rect">
            <a:avLst/>
          </a:prstGeom>
          <a:noFill/>
          <a:ln/>
        </p:spPr>
        <p:txBody>
          <a:bodyPr wrap="square" rtlCol="0" anchor="ctr"/>
          <a:lstStyle/>
          <a:p>
            <a:pPr indent="0" marL="0">
              <a:buNone/>
            </a:pPr>
            <a:r>
              <a:rPr lang="en-US" sz="2000" dirty="0">
                <a:solidFill>
                  <a:srgbClr val="A9BADA"/>
                </a:solidFill>
                <a:latin typeface="Segoe UI" pitchFamily="34" charset="0"/>
                <a:ea typeface="Segoe UI" pitchFamily="34" charset="-122"/>
                <a:cs typeface="Segoe UI" pitchFamily="34" charset="-120"/>
              </a:rPr>
              <a:t>How a login form can be talked into handing over the keys</a:t>
            </a:r>
            <a:endParaRPr lang="en-US" sz="2000" dirty="0"/>
          </a:p>
        </p:txBody>
      </p:sp>
      <p:sp>
        <p:nvSpPr>
          <p:cNvPr id="7" name="Shape 5"/>
          <p:cNvSpPr/>
          <p:nvPr/>
        </p:nvSpPr>
        <p:spPr>
          <a:xfrm>
            <a:off x="658368" y="3200400"/>
            <a:ext cx="3108960" cy="32004"/>
          </a:xfrm>
          <a:prstGeom prst="rect">
            <a:avLst/>
          </a:prstGeom>
          <a:solidFill>
            <a:srgbClr val="E2231A"/>
          </a:solidFill>
          <a:ln/>
        </p:spPr>
      </p:sp>
      <p:sp>
        <p:nvSpPr>
          <p:cNvPr id="8" name="Text 6"/>
          <p:cNvSpPr/>
          <p:nvPr/>
        </p:nvSpPr>
        <p:spPr>
          <a:xfrm>
            <a:off x="658368" y="3429000"/>
            <a:ext cx="7680960" cy="8229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For first-year BS IT students</a:t>
            </a:r>
            <a:endParaRPr lang="en-US" sz="1400" dirty="0"/>
          </a:p>
          <a:p>
            <a:pPr indent="0" marL="0">
              <a:buNone/>
            </a:pPr>
            <a:r>
              <a:rPr lang="en-US" sz="1400" dirty="0">
                <a:solidFill>
                  <a:srgbClr val="8FA3CC"/>
                </a:solidFill>
                <a:latin typeface="Segoe UI" pitchFamily="34" charset="0"/>
                <a:ea typeface="Segoe UI" pitchFamily="34" charset="-122"/>
                <a:cs typeface="Segoe UI" pitchFamily="34" charset="-120"/>
              </a:rPr>
              <a:t>Every attack in this deck runs live on a 1:1 local copy of mcl.blackboard.com</a:t>
            </a:r>
            <a:endParaRPr lang="en-US" sz="1400" dirty="0"/>
          </a:p>
        </p:txBody>
      </p:sp>
      <p:sp>
        <p:nvSpPr>
          <p:cNvPr id="9" name="Shape 7"/>
          <p:cNvSpPr/>
          <p:nvPr/>
        </p:nvSpPr>
        <p:spPr>
          <a:xfrm>
            <a:off x="658368" y="4315968"/>
            <a:ext cx="5120640" cy="384048"/>
          </a:xfrm>
          <a:prstGeom prst="roundRect">
            <a:avLst>
              <a:gd name="adj" fmla="val 19048"/>
            </a:avLst>
          </a:prstGeom>
          <a:solidFill>
            <a:srgbClr val="0E2748"/>
          </a:solidFill>
          <a:ln w="12700">
            <a:solidFill>
              <a:srgbClr val="24487C"/>
            </a:solidFill>
            <a:prstDash val="solid"/>
          </a:ln>
        </p:spPr>
      </p:sp>
      <p:sp>
        <p:nvSpPr>
          <p:cNvPr id="10" name="Text 8"/>
          <p:cNvSpPr/>
          <p:nvPr/>
        </p:nvSpPr>
        <p:spPr>
          <a:xfrm>
            <a:off x="658368" y="4315968"/>
            <a:ext cx="5120640" cy="384048"/>
          </a:xfrm>
          <a:prstGeom prst="rect">
            <a:avLst/>
          </a:prstGeom>
          <a:noFill/>
          <a:ln/>
        </p:spPr>
        <p:txBody>
          <a:bodyPr wrap="square" rtlCol="0" anchor="ctr"/>
          <a:lstStyle/>
          <a:p>
            <a:pPr algn="ctr" indent="0" marL="0">
              <a:buNone/>
            </a:pPr>
            <a:r>
              <a:rPr lang="en-US" sz="950" dirty="0">
                <a:solidFill>
                  <a:srgbClr val="9DE8BC"/>
                </a:solidFill>
                <a:latin typeface="Consolas" pitchFamily="34" charset="0"/>
                <a:ea typeface="Consolas" pitchFamily="34" charset="-122"/>
                <a:cs typeface="Consolas" pitchFamily="34" charset="-120"/>
              </a:rPr>
              <a:t>SIMULATED ENVIRONMENT  ·  127.0.0.1  ·  no real account, no real server</a:t>
            </a:r>
            <a:endParaRPr lang="en-US" sz="950" dirty="0"/>
          </a:p>
        </p:txBody>
      </p:sp>
      <p:sp>
        <p:nvSpPr>
          <p:cNvPr id="11" name="Text 9"/>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6F82A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12" name="Text 10"/>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6F82A8"/>
                </a:solidFill>
                <a:latin typeface="Segoe UI" pitchFamily="34" charset="0"/>
                <a:ea typeface="Segoe UI" pitchFamily="34" charset="-122"/>
                <a:cs typeface="Segoe U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AGENDA</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What we will cover</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2</a:t>
            </a:r>
            <a:endParaRPr lang="en-US" sz="850" dirty="0"/>
          </a:p>
        </p:txBody>
      </p:sp>
      <p:sp>
        <p:nvSpPr>
          <p:cNvPr id="7" name="Text 5"/>
          <p:cNvSpPr/>
          <p:nvPr/>
        </p:nvSpPr>
        <p:spPr>
          <a:xfrm>
            <a:off x="502920" y="1517904"/>
            <a:ext cx="8138160" cy="2377440"/>
          </a:xfrm>
          <a:prstGeom prst="rect">
            <a:avLst/>
          </a:prstGeom>
          <a:noFill/>
          <a:ln/>
        </p:spPr>
        <p:txBody>
          <a:bodyPr wrap="square" rtlCol="0" anchor="t"/>
          <a:lstStyle/>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1.  How a login form talks to a database</a:t>
            </a:r>
            <a:endParaRPr lang="en-US" sz="1450" dirty="0"/>
          </a:p>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2.  What SQL injection actually is</a:t>
            </a:r>
            <a:endParaRPr lang="en-US" sz="1450" dirty="0"/>
          </a:p>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3.  Four attacks, live — from a single bypass to reading the password out of the database</a:t>
            </a:r>
            <a:endParaRPr lang="en-US" sz="1450" dirty="0"/>
          </a:p>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4.  What it costs when it happens for real</a:t>
            </a:r>
            <a:endParaRPr lang="en-US" sz="1450" dirty="0"/>
          </a:p>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5.  Where the SQL should live — front end vs back end</a:t>
            </a:r>
            <a:endParaRPr lang="en-US" sz="1450" dirty="0"/>
          </a:p>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6.  The fix: parameterised queries (and why it is one line of code)</a:t>
            </a:r>
            <a:endParaRPr lang="en-US" sz="1450" dirty="0"/>
          </a:p>
          <a:p>
            <a:pPr marL="203200" indent="-203200">
              <a:lnSpc>
                <a:spcPct val="125000"/>
              </a:lnSpc>
              <a:spcAft>
                <a:spcPts val="800"/>
              </a:spcAft>
              <a:buSzPct val="100000"/>
              <a:buChar char="▪"/>
            </a:pPr>
            <a:r>
              <a:rPr lang="en-US" sz="1450" b="1" dirty="0">
                <a:solidFill>
                  <a:srgbClr val="1B1B1B"/>
                </a:solidFill>
                <a:latin typeface="Segoe UI" pitchFamily="34" charset="0"/>
                <a:ea typeface="Segoe UI" pitchFamily="34" charset="-122"/>
                <a:cs typeface="Segoe UI" pitchFamily="34" charset="-120"/>
              </a:rPr>
              <a:t>7.  Ethics — testing legally, and where to practise</a:t>
            </a:r>
            <a:endParaRPr lang="en-US" sz="1450" dirty="0"/>
          </a:p>
        </p:txBody>
      </p:sp>
      <p:sp>
        <p:nvSpPr>
          <p:cNvPr id="8" name="Shape 6"/>
          <p:cNvSpPr/>
          <p:nvPr/>
        </p:nvSpPr>
        <p:spPr>
          <a:xfrm>
            <a:off x="502920" y="3977640"/>
            <a:ext cx="8138160" cy="566928"/>
          </a:xfrm>
          <a:prstGeom prst="roundRect">
            <a:avLst>
              <a:gd name="adj" fmla="val 9677"/>
            </a:avLst>
          </a:prstGeom>
          <a:solidFill>
            <a:srgbClr val="FFF4F3"/>
          </a:solidFill>
          <a:ln w="12700">
            <a:solidFill>
              <a:srgbClr val="F6C9C5"/>
            </a:solidFill>
            <a:prstDash val="solid"/>
          </a:ln>
        </p:spPr>
      </p:sp>
      <p:sp>
        <p:nvSpPr>
          <p:cNvPr id="9" name="Text 7"/>
          <p:cNvSpPr/>
          <p:nvPr/>
        </p:nvSpPr>
        <p:spPr>
          <a:xfrm>
            <a:off x="685800" y="3977640"/>
            <a:ext cx="7772400" cy="566928"/>
          </a:xfrm>
          <a:prstGeom prst="rect">
            <a:avLst/>
          </a:prstGeom>
          <a:noFill/>
          <a:ln/>
        </p:spPr>
        <p:txBody>
          <a:bodyPr wrap="square" rtlCol="0" anchor="ctr"/>
          <a:lstStyle/>
          <a:p>
            <a:pPr indent="0" marL="0">
              <a:buNone/>
            </a:pPr>
            <a:r>
              <a:rPr lang="en-US" sz="1250" b="1" dirty="0">
                <a:solidFill>
                  <a:srgbClr val="E2231A"/>
                </a:solidFill>
                <a:latin typeface="Segoe UI" pitchFamily="34" charset="0"/>
                <a:ea typeface="Segoe UI" pitchFamily="34" charset="-122"/>
                <a:cs typeface="Segoe UI" pitchFamily="34" charset="-120"/>
              </a:rPr>
              <a:t>You do not need to code to follow this.  </a:t>
            </a:r>
            <a:pPr indent="0" marL="0">
              <a:buNone/>
            </a:pPr>
            <a:r>
              <a:rPr lang="en-US" sz="1250" dirty="0">
                <a:solidFill>
                  <a:srgbClr val="6B3A36"/>
                </a:solidFill>
                <a:latin typeface="Segoe UI" pitchFamily="34" charset="0"/>
                <a:ea typeface="Segoe UI" pitchFamily="34" charset="-122"/>
                <a:cs typeface="Segoe UI" pitchFamily="34" charset="-120"/>
              </a:rPr>
              <a:t>You only need to understand that the database is being asked a question — and someone is changing the question.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THE NORMAL CASE</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How a login is supposed to work</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3</a:t>
            </a:r>
            <a:endParaRPr lang="en-US" sz="850" dirty="0"/>
          </a:p>
        </p:txBody>
      </p:sp>
      <p:sp>
        <p:nvSpPr>
          <p:cNvPr id="7" name="Text 5"/>
          <p:cNvSpPr/>
          <p:nvPr/>
        </p:nvSpPr>
        <p:spPr>
          <a:xfrm>
            <a:off x="502920" y="1463040"/>
            <a:ext cx="8138160" cy="365760"/>
          </a:xfrm>
          <a:prstGeom prst="rect">
            <a:avLst/>
          </a:prstGeom>
          <a:noFill/>
          <a:ln/>
        </p:spPr>
        <p:txBody>
          <a:bodyPr wrap="square" rtlCol="0" anchor="ctr"/>
          <a:lstStyle/>
          <a:p>
            <a:pPr indent="0" marL="0">
              <a:buNone/>
            </a:pPr>
            <a:r>
              <a:rPr lang="en-US" sz="1450" dirty="0">
                <a:solidFill>
                  <a:srgbClr val="5A6474"/>
                </a:solidFill>
                <a:latin typeface="Segoe UI" pitchFamily="34" charset="0"/>
                <a:ea typeface="Segoe UI" pitchFamily="34" charset="-122"/>
                <a:cs typeface="Segoe UI" pitchFamily="34" charset="-120"/>
              </a:rPr>
              <a:t>Your browser sends what you typed. The server asks the database one question:</a:t>
            </a:r>
            <a:endParaRPr lang="en-US" sz="1450" dirty="0"/>
          </a:p>
        </p:txBody>
      </p:sp>
      <p:sp>
        <p:nvSpPr>
          <p:cNvPr id="8" name="Shape 6"/>
          <p:cNvSpPr/>
          <p:nvPr/>
        </p:nvSpPr>
        <p:spPr>
          <a:xfrm>
            <a:off x="502920" y="1920240"/>
            <a:ext cx="8138160" cy="1554480"/>
          </a:xfrm>
          <a:prstGeom prst="roundRect">
            <a:avLst>
              <a:gd name="adj" fmla="val 3529"/>
            </a:avLst>
          </a:prstGeom>
          <a:solidFill>
            <a:srgbClr val="070B16"/>
          </a:solidFill>
          <a:ln w="12700">
            <a:solidFill>
              <a:srgbClr val="1B2540"/>
            </a:solidFill>
            <a:prstDash val="solid"/>
          </a:ln>
        </p:spPr>
      </p:sp>
      <p:sp>
        <p:nvSpPr>
          <p:cNvPr id="9" name="Text 7"/>
          <p:cNvSpPr/>
          <p:nvPr/>
        </p:nvSpPr>
        <p:spPr>
          <a:xfrm>
            <a:off x="685800" y="2048256"/>
            <a:ext cx="7772400" cy="1298448"/>
          </a:xfrm>
          <a:prstGeom prst="rect">
            <a:avLst/>
          </a:prstGeom>
          <a:noFill/>
          <a:ln/>
        </p:spPr>
        <p:txBody>
          <a:bodyPr wrap="square" rtlCol="0" anchor="t"/>
          <a:lstStyle/>
          <a:p>
            <a:pPr algn="l" indent="0" marL="0">
              <a:buNone/>
            </a:pPr>
            <a:r>
              <a:rPr lang="en-US" sz="1400" dirty="0">
                <a:solidFill>
                  <a:srgbClr val="9DE8BC"/>
                </a:solidFill>
                <a:latin typeface="Consolas" pitchFamily="34" charset="0"/>
                <a:ea typeface="Consolas" pitchFamily="34" charset="-122"/>
                <a:cs typeface="Consolas" pitchFamily="34" charset="-120"/>
              </a:rPr>
              <a:t>SELECT * FROM users</a:t>
            </a:r>
            <a:endParaRPr lang="en-US" sz="1400" dirty="0"/>
          </a:p>
          <a:p>
            <a:pPr algn="l" indent="0" marL="0">
              <a:buNone/>
            </a:pPr>
            <a:r>
              <a:rPr lang="en-US" sz="1400" dirty="0">
                <a:solidFill>
                  <a:srgbClr val="CFE0FF"/>
                </a:solidFill>
                <a:latin typeface="Consolas" pitchFamily="34" charset="0"/>
                <a:ea typeface="Consolas" pitchFamily="34" charset="-122"/>
                <a:cs typeface="Consolas" pitchFamily="34" charset="-120"/>
              </a:rPr>
              <a:t> WHERE student_number = </a:t>
            </a:r>
            <a:endParaRPr lang="en-US" sz="1400" dirty="0"/>
          </a:p>
          <a:p>
            <a:pPr algn="l" indent="0" marL="0">
              <a:buNone/>
            </a:pPr>
            <a:r>
              <a:rPr lang="en-US" sz="1400" dirty="0">
                <a:solidFill>
                  <a:srgbClr val="FFD08A"/>
                </a:solidFill>
                <a:latin typeface="Consolas" pitchFamily="34" charset="0"/>
                <a:ea typeface="Consolas" pitchFamily="34" charset="-122"/>
                <a:cs typeface="Consolas" pitchFamily="34" charset="-120"/>
              </a:rPr>
              <a:t>'2024151326'</a:t>
            </a:r>
            <a:endParaRPr lang="en-US" sz="1400" dirty="0"/>
          </a:p>
          <a:p>
            <a:pPr algn="l" indent="0" marL="0">
              <a:buNone/>
            </a:pPr>
            <a:r>
              <a:rPr lang="en-US" sz="1400" dirty="0">
                <a:solidFill>
                  <a:srgbClr val="CFE0FF"/>
                </a:solidFill>
                <a:latin typeface="Consolas" pitchFamily="34" charset="0"/>
                <a:ea typeface="Consolas" pitchFamily="34" charset="-122"/>
                <a:cs typeface="Consolas" pitchFamily="34" charset="-120"/>
              </a:rPr>
              <a:t>   AND password = </a:t>
            </a:r>
            <a:endParaRPr lang="en-US" sz="1400" dirty="0"/>
          </a:p>
          <a:p>
            <a:pPr algn="l" indent="0" marL="0">
              <a:buNone/>
            </a:pPr>
            <a:r>
              <a:rPr lang="en-US" sz="1400" dirty="0">
                <a:solidFill>
                  <a:srgbClr val="FFD08A"/>
                </a:solidFill>
                <a:latin typeface="Consolas" pitchFamily="34" charset="0"/>
                <a:ea typeface="Consolas" pitchFamily="34" charset="-122"/>
                <a:cs typeface="Consolas" pitchFamily="34" charset="-120"/>
              </a:rPr>
              <a:t>'MapuaMCL2026'</a:t>
            </a:r>
            <a:endParaRPr lang="en-US" sz="1400" dirty="0"/>
          </a:p>
          <a:p>
            <a:pPr algn="l" indent="0" marL="0">
              <a:buNone/>
            </a:pPr>
            <a:r>
              <a:rPr lang="en-US" sz="1400" dirty="0">
                <a:solidFill>
                  <a:srgbClr val="7D8CA8"/>
                </a:solidFill>
                <a:latin typeface="Consolas" pitchFamily="34" charset="0"/>
                <a:ea typeface="Consolas" pitchFamily="34" charset="-122"/>
                <a:cs typeface="Consolas" pitchFamily="34" charset="-120"/>
              </a:rPr>
              <a:t>;</a:t>
            </a:r>
            <a:endParaRPr lang="en-US" sz="1400" dirty="0"/>
          </a:p>
        </p:txBody>
      </p:sp>
      <p:sp>
        <p:nvSpPr>
          <p:cNvPr id="10" name="Shape 8"/>
          <p:cNvSpPr/>
          <p:nvPr/>
        </p:nvSpPr>
        <p:spPr>
          <a:xfrm>
            <a:off x="502920" y="3566160"/>
            <a:ext cx="2606040" cy="1051560"/>
          </a:xfrm>
          <a:prstGeom prst="roundRect">
            <a:avLst>
              <a:gd name="adj" fmla="val 4348"/>
            </a:avLst>
          </a:prstGeom>
          <a:solidFill>
            <a:srgbClr val="F5F7FA"/>
          </a:solidFill>
          <a:ln w="12700">
            <a:solidFill>
              <a:srgbClr val="E2E6EC"/>
            </a:solidFill>
            <a:prstDash val="solid"/>
          </a:ln>
        </p:spPr>
      </p:sp>
      <p:sp>
        <p:nvSpPr>
          <p:cNvPr id="11" name="Shape 9"/>
          <p:cNvSpPr/>
          <p:nvPr/>
        </p:nvSpPr>
        <p:spPr>
          <a:xfrm>
            <a:off x="502920" y="3566160"/>
            <a:ext cx="45720" cy="1051560"/>
          </a:xfrm>
          <a:prstGeom prst="rect">
            <a:avLst/>
          </a:prstGeom>
          <a:solidFill>
            <a:srgbClr val="1E9E5A"/>
          </a:solidFill>
          <a:ln/>
        </p:spPr>
      </p:sp>
      <p:sp>
        <p:nvSpPr>
          <p:cNvPr id="12" name="Text 10"/>
          <p:cNvSpPr/>
          <p:nvPr/>
        </p:nvSpPr>
        <p:spPr>
          <a:xfrm>
            <a:off x="704088" y="3694176"/>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A row comes back</a:t>
            </a:r>
            <a:endParaRPr lang="en-US" sz="1300" dirty="0"/>
          </a:p>
        </p:txBody>
      </p:sp>
      <p:sp>
        <p:nvSpPr>
          <p:cNvPr id="13" name="Text 11"/>
          <p:cNvSpPr/>
          <p:nvPr/>
        </p:nvSpPr>
        <p:spPr>
          <a:xfrm>
            <a:off x="704088" y="3986784"/>
            <a:ext cx="224028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 the answer is “yes, that account exists with that password” → you are signed in.</a:t>
            </a:r>
            <a:endParaRPr lang="en-US" sz="1100" dirty="0"/>
          </a:p>
        </p:txBody>
      </p:sp>
      <p:sp>
        <p:nvSpPr>
          <p:cNvPr id="14" name="Shape 12"/>
          <p:cNvSpPr/>
          <p:nvPr/>
        </p:nvSpPr>
        <p:spPr>
          <a:xfrm>
            <a:off x="3291840" y="3566160"/>
            <a:ext cx="2606040" cy="1051560"/>
          </a:xfrm>
          <a:prstGeom prst="roundRect">
            <a:avLst>
              <a:gd name="adj" fmla="val 4348"/>
            </a:avLst>
          </a:prstGeom>
          <a:solidFill>
            <a:srgbClr val="F5F7FA"/>
          </a:solidFill>
          <a:ln w="12700">
            <a:solidFill>
              <a:srgbClr val="E2E6EC"/>
            </a:solidFill>
            <a:prstDash val="solid"/>
          </a:ln>
        </p:spPr>
      </p:sp>
      <p:sp>
        <p:nvSpPr>
          <p:cNvPr id="15" name="Shape 13"/>
          <p:cNvSpPr/>
          <p:nvPr/>
        </p:nvSpPr>
        <p:spPr>
          <a:xfrm>
            <a:off x="3291840" y="3566160"/>
            <a:ext cx="45720" cy="1051560"/>
          </a:xfrm>
          <a:prstGeom prst="rect">
            <a:avLst/>
          </a:prstGeom>
          <a:solidFill>
            <a:srgbClr val="5A6474"/>
          </a:solidFill>
          <a:ln/>
        </p:spPr>
      </p:sp>
      <p:sp>
        <p:nvSpPr>
          <p:cNvPr id="16" name="Text 14"/>
          <p:cNvSpPr/>
          <p:nvPr/>
        </p:nvSpPr>
        <p:spPr>
          <a:xfrm>
            <a:off x="3493008" y="3694176"/>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No row comes back</a:t>
            </a:r>
            <a:endParaRPr lang="en-US" sz="1300" dirty="0"/>
          </a:p>
        </p:txBody>
      </p:sp>
      <p:sp>
        <p:nvSpPr>
          <p:cNvPr id="17" name="Text 15"/>
          <p:cNvSpPr/>
          <p:nvPr/>
        </p:nvSpPr>
        <p:spPr>
          <a:xfrm>
            <a:off x="3493008" y="3986784"/>
            <a:ext cx="224028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 the answer is “no” → the form shows “Invalid username or password”.</a:t>
            </a:r>
            <a:endParaRPr lang="en-US" sz="1100" dirty="0"/>
          </a:p>
        </p:txBody>
      </p:sp>
      <p:sp>
        <p:nvSpPr>
          <p:cNvPr id="18" name="Shape 16"/>
          <p:cNvSpPr/>
          <p:nvPr/>
        </p:nvSpPr>
        <p:spPr>
          <a:xfrm>
            <a:off x="6080760" y="3566160"/>
            <a:ext cx="2560320" cy="1051560"/>
          </a:xfrm>
          <a:prstGeom prst="roundRect">
            <a:avLst>
              <a:gd name="adj" fmla="val 4348"/>
            </a:avLst>
          </a:prstGeom>
          <a:solidFill>
            <a:srgbClr val="F5F7FA"/>
          </a:solidFill>
          <a:ln w="12700">
            <a:solidFill>
              <a:srgbClr val="E2E6EC"/>
            </a:solidFill>
            <a:prstDash val="solid"/>
          </a:ln>
        </p:spPr>
      </p:sp>
      <p:sp>
        <p:nvSpPr>
          <p:cNvPr id="19" name="Shape 17"/>
          <p:cNvSpPr/>
          <p:nvPr/>
        </p:nvSpPr>
        <p:spPr>
          <a:xfrm>
            <a:off x="6080760" y="3566160"/>
            <a:ext cx="45720" cy="1051560"/>
          </a:xfrm>
          <a:prstGeom prst="rect">
            <a:avLst/>
          </a:prstGeom>
          <a:solidFill>
            <a:srgbClr val="123156"/>
          </a:solidFill>
          <a:ln/>
        </p:spPr>
      </p:sp>
      <p:sp>
        <p:nvSpPr>
          <p:cNvPr id="20" name="Text 18"/>
          <p:cNvSpPr/>
          <p:nvPr/>
        </p:nvSpPr>
        <p:spPr>
          <a:xfrm>
            <a:off x="6281928" y="3694176"/>
            <a:ext cx="219456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That is the whole login</a:t>
            </a:r>
            <a:endParaRPr lang="en-US" sz="1300" dirty="0"/>
          </a:p>
        </p:txBody>
      </p:sp>
      <p:sp>
        <p:nvSpPr>
          <p:cNvPr id="21" name="Text 19"/>
          <p:cNvSpPr/>
          <p:nvPr/>
        </p:nvSpPr>
        <p:spPr>
          <a:xfrm>
            <a:off x="6281928" y="3986784"/>
            <a:ext cx="219456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No magic. One question, one answer. Hold on to that.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THE BUG</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The vulnerable code</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4</a:t>
            </a:r>
            <a:endParaRPr lang="en-US" sz="850" dirty="0"/>
          </a:p>
        </p:txBody>
      </p:sp>
      <p:sp>
        <p:nvSpPr>
          <p:cNvPr id="7" name="Text 5"/>
          <p:cNvSpPr/>
          <p:nvPr/>
        </p:nvSpPr>
        <p:spPr>
          <a:xfrm>
            <a:off x="502920" y="1444752"/>
            <a:ext cx="8138160" cy="365760"/>
          </a:xfrm>
          <a:prstGeom prst="rect">
            <a:avLst/>
          </a:prstGeom>
          <a:noFill/>
          <a:ln/>
        </p:spPr>
        <p:txBody>
          <a:bodyPr wrap="square" rtlCol="0" anchor="ctr"/>
          <a:lstStyle/>
          <a:p>
            <a:pPr indent="0" marL="0">
              <a:buNone/>
            </a:pPr>
            <a:r>
              <a:rPr lang="en-US" sz="1450" dirty="0">
                <a:solidFill>
                  <a:srgbClr val="5A6474"/>
                </a:solidFill>
                <a:latin typeface="Segoe UI" pitchFamily="34" charset="0"/>
                <a:ea typeface="Segoe UI" pitchFamily="34" charset="-122"/>
                <a:cs typeface="Segoe UI" pitchFamily="34" charset="-120"/>
              </a:rPr>
              <a:t>Most injection bugs come from one habit — pasting input into a query as text:</a:t>
            </a:r>
            <a:endParaRPr lang="en-US" sz="1450" dirty="0"/>
          </a:p>
        </p:txBody>
      </p:sp>
      <p:sp>
        <p:nvSpPr>
          <p:cNvPr id="8" name="Shape 6"/>
          <p:cNvSpPr/>
          <p:nvPr/>
        </p:nvSpPr>
        <p:spPr>
          <a:xfrm>
            <a:off x="502920" y="1901952"/>
            <a:ext cx="8138160" cy="1783080"/>
          </a:xfrm>
          <a:prstGeom prst="roundRect">
            <a:avLst>
              <a:gd name="adj" fmla="val 3077"/>
            </a:avLst>
          </a:prstGeom>
          <a:solidFill>
            <a:srgbClr val="070B16"/>
          </a:solidFill>
          <a:ln w="12700">
            <a:solidFill>
              <a:srgbClr val="1B2540"/>
            </a:solidFill>
            <a:prstDash val="solid"/>
          </a:ln>
        </p:spPr>
      </p:sp>
      <p:sp>
        <p:nvSpPr>
          <p:cNvPr id="9" name="Text 7"/>
          <p:cNvSpPr/>
          <p:nvPr/>
        </p:nvSpPr>
        <p:spPr>
          <a:xfrm>
            <a:off x="685800" y="2029968"/>
            <a:ext cx="7772400" cy="1527048"/>
          </a:xfrm>
          <a:prstGeom prst="rect">
            <a:avLst/>
          </a:prstGeom>
          <a:noFill/>
          <a:ln/>
        </p:spPr>
        <p:txBody>
          <a:bodyPr wrap="square" rtlCol="0" anchor="t"/>
          <a:lstStyle/>
          <a:p>
            <a:pPr algn="l" indent="0" marL="0">
              <a:buNone/>
            </a:pPr>
            <a:r>
              <a:rPr lang="en-US" sz="1400" dirty="0">
                <a:solidFill>
                  <a:srgbClr val="4F5F7D"/>
                </a:solidFill>
                <a:latin typeface="Consolas" pitchFamily="34" charset="0"/>
                <a:ea typeface="Consolas" pitchFamily="34" charset="-122"/>
                <a:cs typeface="Consolas" pitchFamily="34" charset="-120"/>
              </a:rPr>
              <a:t>// JISSA lab — lib/vulnerable-login.js</a:t>
            </a:r>
            <a:endParaRPr lang="en-US" sz="1400" dirty="0"/>
          </a:p>
          <a:p>
            <a:pPr algn="l" indent="0" marL="0">
              <a:buNone/>
            </a:pPr>
            <a:r>
              <a:rPr lang="en-US" sz="1400" dirty="0">
                <a:solidFill>
                  <a:srgbClr val="CFE0FF"/>
                </a:solidFill>
                <a:latin typeface="Consolas" pitchFamily="34" charset="0"/>
                <a:ea typeface="Consolas" pitchFamily="34" charset="-122"/>
                <a:cs typeface="Consolas" pitchFamily="34" charset="-120"/>
              </a:rPr>
              <a:t>const q = `SELECT * FROM users</a:t>
            </a:r>
            <a:endParaRPr lang="en-US" sz="1400" dirty="0"/>
          </a:p>
          <a:p>
            <a:pPr algn="l" indent="0" marL="0">
              <a:buNone/>
            </a:pPr>
            <a:r>
              <a:rPr lang="en-US" sz="1400" dirty="0">
                <a:solidFill>
                  <a:srgbClr val="CFE0FF"/>
                </a:solidFill>
                <a:latin typeface="Consolas" pitchFamily="34" charset="0"/>
                <a:ea typeface="Consolas" pitchFamily="34" charset="-122"/>
                <a:cs typeface="Consolas" pitchFamily="34" charset="-120"/>
              </a:rPr>
              <a:t>         WHERE student_number = '${username}'</a:t>
            </a:r>
            <a:endParaRPr lang="en-US" sz="1400" dirty="0"/>
          </a:p>
          <a:p>
            <a:pPr algn="l" indent="0" marL="0">
              <a:buNone/>
            </a:pPr>
            <a:r>
              <a:rPr lang="en-US" sz="1400" dirty="0">
                <a:solidFill>
                  <a:srgbClr val="CFE0FF"/>
                </a:solidFill>
                <a:latin typeface="Consolas" pitchFamily="34" charset="0"/>
                <a:ea typeface="Consolas" pitchFamily="34" charset="-122"/>
                <a:cs typeface="Consolas" pitchFamily="34" charset="-120"/>
              </a:rPr>
              <a:t>           AND password        = '${password}'`;</a:t>
            </a:r>
            <a:endParaRPr lang="en-US" sz="1400" dirty="0"/>
          </a:p>
          <a:p>
            <a:pPr algn="l" indent="0" marL="0">
              <a:buNone/>
            </a:pPr>
            <a:endParaRPr lang="en-US" sz="1400" dirty="0"/>
          </a:p>
          <a:p>
            <a:pPr algn="l" indent="0" marL="0">
              <a:buNone/>
            </a:pPr>
            <a:r>
              <a:rPr lang="en-US" sz="1400" dirty="0">
                <a:solidFill>
                  <a:srgbClr val="FFC857"/>
                </a:solidFill>
                <a:latin typeface="Consolas" pitchFamily="34" charset="0"/>
                <a:ea typeface="Consolas" pitchFamily="34" charset="-122"/>
                <a:cs typeface="Consolas" pitchFamily="34" charset="-120"/>
              </a:rPr>
              <a:t>db.prepare(q).get();   </a:t>
            </a:r>
            <a:endParaRPr lang="en-US" sz="1400" dirty="0"/>
          </a:p>
          <a:p>
            <a:pPr algn="l" indent="0" marL="0">
              <a:buNone/>
            </a:pPr>
            <a:r>
              <a:rPr lang="en-US" sz="1400" b="1" dirty="0">
                <a:solidFill>
                  <a:srgbClr val="FF5F56"/>
                </a:solidFill>
                <a:latin typeface="Consolas" pitchFamily="34" charset="0"/>
                <a:ea typeface="Consolas" pitchFamily="34" charset="-122"/>
                <a:cs typeface="Consolas" pitchFamily="34" charset="-120"/>
              </a:rPr>
              <a:t>// ← text you type becomes SQL</a:t>
            </a:r>
            <a:endParaRPr lang="en-US" sz="1400" dirty="0"/>
          </a:p>
        </p:txBody>
      </p:sp>
      <p:sp>
        <p:nvSpPr>
          <p:cNvPr id="10" name="Shape 8"/>
          <p:cNvSpPr/>
          <p:nvPr/>
        </p:nvSpPr>
        <p:spPr>
          <a:xfrm>
            <a:off x="502920" y="3794760"/>
            <a:ext cx="8138160" cy="777240"/>
          </a:xfrm>
          <a:prstGeom prst="roundRect">
            <a:avLst>
              <a:gd name="adj" fmla="val 7059"/>
            </a:avLst>
          </a:prstGeom>
          <a:solidFill>
            <a:srgbClr val="FDEDEC"/>
          </a:solidFill>
          <a:ln w="12700">
            <a:solidFill>
              <a:srgbClr val="F0B7B2"/>
            </a:solidFill>
            <a:prstDash val="solid"/>
          </a:ln>
        </p:spPr>
      </p:sp>
      <p:sp>
        <p:nvSpPr>
          <p:cNvPr id="11" name="Text 9"/>
          <p:cNvSpPr/>
          <p:nvPr/>
        </p:nvSpPr>
        <p:spPr>
          <a:xfrm>
            <a:off x="713232" y="3794760"/>
            <a:ext cx="7726680" cy="777240"/>
          </a:xfrm>
          <a:prstGeom prst="rect">
            <a:avLst/>
          </a:prstGeom>
          <a:noFill/>
          <a:ln/>
        </p:spPr>
        <p:txBody>
          <a:bodyPr wrap="square" rtlCol="0" anchor="ctr"/>
          <a:lstStyle/>
          <a:p>
            <a:pPr indent="0" marL="0">
              <a:buNone/>
            </a:pPr>
            <a:r>
              <a:rPr lang="en-US" sz="1400" b="1" dirty="0">
                <a:solidFill>
                  <a:srgbClr val="9B1C14"/>
                </a:solidFill>
                <a:latin typeface="Segoe UI" pitchFamily="34" charset="0"/>
                <a:ea typeface="Segoe UI" pitchFamily="34" charset="-122"/>
                <a:cs typeface="Segoe UI" pitchFamily="34" charset="-120"/>
              </a:rPr>
              <a:t>The database has no idea which parts are your data and which parts are instructions. </a:t>
            </a:r>
            <a:pPr indent="0" marL="0">
              <a:buNone/>
            </a:pPr>
            <a:r>
              <a:rPr lang="en-US" sz="1400" dirty="0">
                <a:solidFill>
                  <a:srgbClr val="9B1C14"/>
                </a:solidFill>
                <a:latin typeface="Segoe UI" pitchFamily="34" charset="0"/>
                <a:ea typeface="Segoe UI" pitchFamily="34" charset="-122"/>
                <a:cs typeface="Segoe UI" pitchFamily="34" charset="-120"/>
              </a:rPr>
              <a:t>If you can type a quote, you can write the instructions yourself.</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THE ATTACK</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What the attacker types:  ' OR 1=1--</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5</a:t>
            </a:r>
            <a:endParaRPr lang="en-US" sz="850" dirty="0"/>
          </a:p>
        </p:txBody>
      </p:sp>
      <p:sp>
        <p:nvSpPr>
          <p:cNvPr id="7" name="Shape 5"/>
          <p:cNvSpPr/>
          <p:nvPr/>
        </p:nvSpPr>
        <p:spPr>
          <a:xfrm>
            <a:off x="502920" y="1463040"/>
            <a:ext cx="2743200" cy="1371600"/>
          </a:xfrm>
          <a:prstGeom prst="roundRect">
            <a:avLst>
              <a:gd name="adj" fmla="val 4000"/>
            </a:avLst>
          </a:prstGeom>
          <a:solidFill>
            <a:srgbClr val="F5F7FA"/>
          </a:solidFill>
          <a:ln w="12700">
            <a:solidFill>
              <a:srgbClr val="E2E6EC"/>
            </a:solidFill>
            <a:prstDash val="solid"/>
          </a:ln>
        </p:spPr>
      </p:sp>
      <p:sp>
        <p:nvSpPr>
          <p:cNvPr id="8" name="Text 6"/>
          <p:cNvSpPr/>
          <p:nvPr/>
        </p:nvSpPr>
        <p:spPr>
          <a:xfrm>
            <a:off x="685800" y="1600200"/>
            <a:ext cx="2377440" cy="274320"/>
          </a:xfrm>
          <a:prstGeom prst="rect">
            <a:avLst/>
          </a:prstGeom>
          <a:noFill/>
          <a:ln/>
        </p:spPr>
        <p:txBody>
          <a:bodyPr wrap="square" rtlCol="0" anchor="ctr"/>
          <a:lstStyle/>
          <a:p>
            <a:pPr indent="0" marL="0">
              <a:buNone/>
            </a:pPr>
            <a:r>
              <a:rPr lang="en-US" sz="1000" b="1" spc="150" kern="0" dirty="0">
                <a:solidFill>
                  <a:srgbClr val="5A6474"/>
                </a:solidFill>
                <a:latin typeface="Segoe UI" pitchFamily="34" charset="0"/>
                <a:ea typeface="Segoe UI" pitchFamily="34" charset="-122"/>
                <a:cs typeface="Segoe UI" pitchFamily="34" charset="-120"/>
              </a:rPr>
              <a:t>IN THE PASSWORD FIELD</a:t>
            </a:r>
            <a:endParaRPr lang="en-US" sz="1000" dirty="0"/>
          </a:p>
        </p:txBody>
      </p:sp>
      <p:sp>
        <p:nvSpPr>
          <p:cNvPr id="9" name="Text 7"/>
          <p:cNvSpPr/>
          <p:nvPr/>
        </p:nvSpPr>
        <p:spPr>
          <a:xfrm>
            <a:off x="685800" y="1920240"/>
            <a:ext cx="2377440" cy="640080"/>
          </a:xfrm>
          <a:prstGeom prst="rect">
            <a:avLst/>
          </a:prstGeom>
          <a:noFill/>
          <a:ln/>
        </p:spPr>
        <p:txBody>
          <a:bodyPr wrap="square" rtlCol="0" anchor="ctr"/>
          <a:lstStyle/>
          <a:p>
            <a:pPr indent="0" marL="0">
              <a:buNone/>
            </a:pPr>
            <a:r>
              <a:rPr lang="en-US" sz="2600" b="1" dirty="0">
                <a:solidFill>
                  <a:srgbClr val="E2231A"/>
                </a:solidFill>
                <a:latin typeface="Consolas" pitchFamily="34" charset="0"/>
                <a:ea typeface="Consolas" pitchFamily="34" charset="-122"/>
                <a:cs typeface="Consolas" pitchFamily="34" charset="-120"/>
              </a:rPr>
              <a:t>' OR 1=1--</a:t>
            </a:r>
            <a:endParaRPr lang="en-US" sz="2600" dirty="0"/>
          </a:p>
        </p:txBody>
      </p:sp>
      <p:sp>
        <p:nvSpPr>
          <p:cNvPr id="10" name="Text 8"/>
          <p:cNvSpPr/>
          <p:nvPr/>
        </p:nvSpPr>
        <p:spPr>
          <a:xfrm>
            <a:off x="3291840" y="1874520"/>
            <a:ext cx="457200" cy="548640"/>
          </a:xfrm>
          <a:prstGeom prst="rect">
            <a:avLst/>
          </a:prstGeom>
          <a:noFill/>
          <a:ln/>
        </p:spPr>
        <p:txBody>
          <a:bodyPr wrap="square" rtlCol="0" anchor="ctr"/>
          <a:lstStyle/>
          <a:p>
            <a:pPr algn="ctr" indent="0" marL="0">
              <a:buNone/>
            </a:pPr>
            <a:r>
              <a:rPr lang="en-US" sz="3000" b="1" dirty="0">
                <a:solidFill>
                  <a:srgbClr val="5A6474"/>
                </a:solidFill>
                <a:latin typeface="Segoe UI" pitchFamily="34" charset="0"/>
                <a:ea typeface="Segoe UI" pitchFamily="34" charset="-122"/>
                <a:cs typeface="Segoe UI" pitchFamily="34" charset="-120"/>
              </a:rPr>
              <a:t>→</a:t>
            </a:r>
            <a:endParaRPr lang="en-US" sz="3000" dirty="0"/>
          </a:p>
        </p:txBody>
      </p:sp>
      <p:sp>
        <p:nvSpPr>
          <p:cNvPr id="11" name="Shape 9"/>
          <p:cNvSpPr/>
          <p:nvPr/>
        </p:nvSpPr>
        <p:spPr>
          <a:xfrm>
            <a:off x="3794760" y="1463040"/>
            <a:ext cx="4846320" cy="1371600"/>
          </a:xfrm>
          <a:prstGeom prst="roundRect">
            <a:avLst>
              <a:gd name="adj" fmla="val 4000"/>
            </a:avLst>
          </a:prstGeom>
          <a:solidFill>
            <a:srgbClr val="070B16"/>
          </a:solidFill>
          <a:ln w="12700">
            <a:solidFill>
              <a:srgbClr val="1B2540"/>
            </a:solidFill>
            <a:prstDash val="solid"/>
          </a:ln>
        </p:spPr>
      </p:sp>
      <p:sp>
        <p:nvSpPr>
          <p:cNvPr id="12" name="Text 10"/>
          <p:cNvSpPr/>
          <p:nvPr/>
        </p:nvSpPr>
        <p:spPr>
          <a:xfrm>
            <a:off x="3977640" y="1591056"/>
            <a:ext cx="4480560" cy="1115568"/>
          </a:xfrm>
          <a:prstGeom prst="rect">
            <a:avLst/>
          </a:prstGeom>
          <a:noFill/>
          <a:ln/>
        </p:spPr>
        <p:txBody>
          <a:bodyPr wrap="square" rtlCol="0" anchor="t"/>
          <a:lstStyle/>
          <a:p>
            <a:pPr algn="l" indent="0" marL="0">
              <a:buNone/>
            </a:pPr>
            <a:r>
              <a:rPr lang="en-US" sz="1250" dirty="0">
                <a:solidFill>
                  <a:srgbClr val="9DE8BC"/>
                </a:solidFill>
                <a:latin typeface="Consolas" pitchFamily="34" charset="0"/>
                <a:ea typeface="Consolas" pitchFamily="34" charset="-122"/>
                <a:cs typeface="Consolas" pitchFamily="34" charset="-120"/>
              </a:rPr>
              <a:t>SELECT * FROM users</a:t>
            </a:r>
            <a:endParaRPr lang="en-US" sz="1250" dirty="0"/>
          </a:p>
          <a:p>
            <a:pPr algn="l" indent="0" marL="0">
              <a:buNone/>
            </a:pPr>
            <a:r>
              <a:rPr lang="en-US" sz="1250" dirty="0">
                <a:solidFill>
                  <a:srgbClr val="CFE0FF"/>
                </a:solidFill>
                <a:latin typeface="Consolas" pitchFamily="34" charset="0"/>
                <a:ea typeface="Consolas" pitchFamily="34" charset="-122"/>
                <a:cs typeface="Consolas" pitchFamily="34" charset="-120"/>
              </a:rPr>
              <a:t> WHERE id = 1 AND password = </a:t>
            </a:r>
            <a:endParaRPr lang="en-US" sz="1250" dirty="0"/>
          </a:p>
          <a:p>
            <a:pPr algn="l" indent="0" marL="0">
              <a:buNone/>
            </a:pPr>
            <a:r>
              <a:rPr lang="en-US" sz="1250" b="1" dirty="0">
                <a:solidFill>
                  <a:srgbClr val="FF5F56"/>
                </a:solidFill>
                <a:latin typeface="Consolas" pitchFamily="34" charset="0"/>
                <a:ea typeface="Consolas" pitchFamily="34" charset="-122"/>
                <a:cs typeface="Consolas" pitchFamily="34" charset="-120"/>
              </a:rPr>
              <a:t>'' OR 1=1</a:t>
            </a:r>
            <a:endParaRPr lang="en-US" sz="1250" dirty="0"/>
          </a:p>
          <a:p>
            <a:pPr algn="l" indent="0" marL="0">
              <a:buNone/>
            </a:pPr>
            <a:r>
              <a:rPr lang="en-US" sz="1250" b="1" dirty="0">
                <a:solidFill>
                  <a:srgbClr val="FF5F56"/>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7D8CA8"/>
                </a:solidFill>
                <a:latin typeface="Consolas" pitchFamily="34" charset="0"/>
                <a:ea typeface="Consolas" pitchFamily="34" charset="-122"/>
                <a:cs typeface="Consolas" pitchFamily="34" charset="-120"/>
              </a:rPr>
              <a:t> LIMIT 1;</a:t>
            </a:r>
            <a:endParaRPr lang="en-US" sz="1250" dirty="0"/>
          </a:p>
        </p:txBody>
      </p:sp>
      <p:sp>
        <p:nvSpPr>
          <p:cNvPr id="13" name="Text 11"/>
          <p:cNvSpPr/>
          <p:nvPr/>
        </p:nvSpPr>
        <p:spPr>
          <a:xfrm>
            <a:off x="502920" y="3017520"/>
            <a:ext cx="8138160" cy="640080"/>
          </a:xfrm>
          <a:prstGeom prst="rect">
            <a:avLst/>
          </a:prstGeom>
          <a:noFill/>
          <a:ln/>
        </p:spPr>
        <p:txBody>
          <a:bodyPr wrap="square" rtlCol="0" anchor="ctr"/>
          <a:lstStyle/>
          <a:p>
            <a:pPr indent="0" marL="0">
              <a:buNone/>
            </a:pPr>
            <a:r>
              <a:rPr lang="en-US" sz="1400" b="1" dirty="0">
                <a:solidFill>
                  <a:srgbClr val="1B1B1B"/>
                </a:solidFill>
                <a:latin typeface="Segoe UI" pitchFamily="34" charset="0"/>
                <a:ea typeface="Segoe UI" pitchFamily="34" charset="-122"/>
                <a:cs typeface="Segoe UI" pitchFamily="34" charset="-120"/>
              </a:rPr>
              <a:t>Read it out loud:  </a:t>
            </a:r>
            <a:pPr indent="0" marL="0">
              <a:buNone/>
            </a:pPr>
            <a:r>
              <a:rPr lang="en-US" sz="1400" dirty="0">
                <a:solidFill>
                  <a:srgbClr val="5A6474"/>
                </a:solidFill>
                <a:latin typeface="Segoe UI" pitchFamily="34" charset="0"/>
                <a:ea typeface="Segoe UI" pitchFamily="34" charset="-122"/>
                <a:cs typeface="Segoe UI" pitchFamily="34" charset="-120"/>
              </a:rPr>
              <a:t>“id is 1 AND the password is empty” </a:t>
            </a:r>
            <a:pPr indent="0" marL="0">
              <a:buNone/>
            </a:pPr>
            <a:r>
              <a:rPr lang="en-US" sz="1400" b="1" dirty="0">
                <a:solidFill>
                  <a:srgbClr val="E2231A"/>
                </a:solidFill>
                <a:latin typeface="Segoe UI" pitchFamily="34" charset="0"/>
                <a:ea typeface="Segoe UI" pitchFamily="34" charset="-122"/>
                <a:cs typeface="Segoe UI" pitchFamily="34" charset="-120"/>
              </a:rPr>
              <a:t>OR “1 equals 1”</a:t>
            </a:r>
            <a:pPr indent="0" marL="0">
              <a:buNone/>
            </a:pPr>
            <a:r>
              <a:rPr lang="en-US" sz="1400" dirty="0">
                <a:solidFill>
                  <a:srgbClr val="5A6474"/>
                </a:solidFill>
                <a:latin typeface="Segoe UI" pitchFamily="34" charset="0"/>
                <a:ea typeface="Segoe UI" pitchFamily="34" charset="-122"/>
                <a:cs typeface="Segoe UI" pitchFamily="34" charset="-120"/>
              </a:rPr>
              <a:t> — and everything after </a:t>
            </a:r>
            <a:pPr indent="0" marL="0">
              <a:buNone/>
            </a:pPr>
            <a:r>
              <a:rPr lang="en-US" sz="1400" b="1" dirty="0">
                <a:solidFill>
                  <a:srgbClr val="E2231A"/>
                </a:solidFill>
                <a:latin typeface="Consolas" pitchFamily="34" charset="0"/>
                <a:ea typeface="Consolas" pitchFamily="34" charset="-122"/>
                <a:cs typeface="Consolas" pitchFamily="34" charset="-120"/>
              </a:rPr>
              <a:t>--</a:t>
            </a:r>
            <a:pPr indent="0" marL="0">
              <a:buNone/>
            </a:pPr>
            <a:r>
              <a:rPr lang="en-US" sz="1400" dirty="0">
                <a:solidFill>
                  <a:srgbClr val="5A6474"/>
                </a:solidFill>
                <a:latin typeface="Segoe UI" pitchFamily="34" charset="0"/>
                <a:ea typeface="Segoe UI" pitchFamily="34" charset="-122"/>
                <a:cs typeface="Segoe UI" pitchFamily="34" charset="-120"/>
              </a:rPr>
              <a:t> is a comment, so the password check is never finished.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3749040"/>
          <a:ext cx="8138160" cy="914400"/>
        </p:xfrm>
        <a:graphic>
          <a:graphicData uri="http://schemas.openxmlformats.org/drawingml/2006/table">
            <a:tbl>
              <a:tblPr/>
              <a:tblGrid>
                <a:gridCol w="4069080"/>
                <a:gridCol w="4069080"/>
              </a:tblGrid>
              <a:tr h="310896">
                <a:tc>
                  <a:txBody>
                    <a:bodyPr/>
                    <a:lstStyle/>
                    <a:p>
                      <a:pPr indent="0" marL="0">
                        <a:buNone/>
                      </a:pPr>
                      <a:r>
                        <a:rPr lang="en-US" sz="1250" b="1" dirty="0">
                          <a:solidFill>
                            <a:srgbClr val="FFFFFF"/>
                          </a:solidFill>
                          <a:latin typeface="Segoe UI" pitchFamily="34" charset="0"/>
                          <a:ea typeface="Segoe UI" pitchFamily="34" charset="-122"/>
                          <a:cs typeface="Segoe UI" pitchFamily="34" charset="-120"/>
                        </a:rPr>
                        <a:t>What they wanted to prove</a:t>
                      </a:r>
                      <a:endParaRPr lang="en-US" sz="1250" dirty="0">
                        <a:latin typeface="Segoe UI" charset="0"/>
                        <a:ea typeface="Segoe UI" charset="0"/>
                        <a:cs typeface="Segoe UI" charset="0"/>
                      </a:endParaRPr>
                    </a:p>
                  </a:txBody>
                  <a:tcPr marL="50800" marR="50800" marT="50800" marB="508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123156"/>
                    </a:solidFill>
                  </a:tcPr>
                </a:tc>
                <a:tc>
                  <a:txBody>
                    <a:bodyPr/>
                    <a:lstStyle/>
                    <a:p>
                      <a:pPr indent="0" marL="0">
                        <a:buNone/>
                      </a:pPr>
                      <a:r>
                        <a:rPr lang="en-US" sz="1250" b="1" dirty="0">
                          <a:solidFill>
                            <a:srgbClr val="FFFFFF"/>
                          </a:solidFill>
                          <a:latin typeface="Segoe UI" pitchFamily="34" charset="0"/>
                          <a:ea typeface="Segoe UI" pitchFamily="34" charset="-122"/>
                          <a:cs typeface="Segoe UI" pitchFamily="34" charset="-120"/>
                        </a:rPr>
                        <a:t>What the database heard</a:t>
                      </a:r>
                      <a:endParaRPr lang="en-US" sz="1250" dirty="0">
                        <a:latin typeface="Segoe UI" charset="0"/>
                        <a:ea typeface="Segoe UI" charset="0"/>
                        <a:cs typeface="Segoe UI" charset="0"/>
                      </a:endParaRPr>
                    </a:p>
                  </a:txBody>
                  <a:tcPr marL="50800" marR="50800" marT="50800" marB="508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123156"/>
                    </a:solidFill>
                  </a:tcPr>
                </a:tc>
              </a:tr>
              <a:tr h="310896">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Is this the right password?</a:t>
                      </a:r>
                      <a:endParaRPr lang="en-US" sz="1250" dirty="0">
                        <a:latin typeface="Segoe UI" charset="0"/>
                        <a:ea typeface="Segoe UI" charset="0"/>
                        <a:cs typeface="Segoe UI" charset="0"/>
                      </a:endParaRPr>
                    </a:p>
                  </a:txBody>
                  <a:tcPr marL="50800" marR="50800" marT="50800" marB="508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Is (empty password) OR 1=1 true?  → always true</a:t>
                      </a:r>
                      <a:endParaRPr lang="en-US" sz="1250" dirty="0">
                        <a:latin typeface="Segoe UI" charset="0"/>
                        <a:ea typeface="Segoe UI" charset="0"/>
                        <a:cs typeface="Segoe UI" charset="0"/>
                      </a:endParaRPr>
                    </a:p>
                  </a:txBody>
                  <a:tcPr marL="50800" marR="50800" marT="50800" marB="508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tcPr>
                </a:tc>
              </a:tr>
              <a:tr h="310896">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Answer: no → rejected</a:t>
                      </a:r>
                      <a:endParaRPr lang="en-US" sz="1250" dirty="0">
                        <a:latin typeface="Segoe UI" charset="0"/>
                        <a:ea typeface="Segoe UI" charset="0"/>
                        <a:cs typeface="Segoe UI" charset="0"/>
                      </a:endParaRPr>
                    </a:p>
                  </a:txBody>
                  <a:tcPr marL="50800" marR="50800" marT="50800" marB="508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Answer: yes → a row comes back → signed in</a:t>
                      </a:r>
                      <a:endParaRPr lang="en-US" sz="1250" dirty="0">
                        <a:latin typeface="Segoe UI" charset="0"/>
                        <a:ea typeface="Segoe UI" charset="0"/>
                        <a:cs typeface="Segoe UI" charset="0"/>
                      </a:endParaRPr>
                    </a:p>
                  </a:txBody>
                  <a:tcPr marL="50800" marR="50800" marT="50800" marB="508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WHY IT WORKS</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Three rules of SQL injection</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6</a:t>
            </a:r>
            <a:endParaRPr lang="en-US" sz="850" dirty="0"/>
          </a:p>
        </p:txBody>
      </p:sp>
      <p:sp>
        <p:nvSpPr>
          <p:cNvPr id="7" name="Shape 5"/>
          <p:cNvSpPr/>
          <p:nvPr/>
        </p:nvSpPr>
        <p:spPr>
          <a:xfrm>
            <a:off x="502920" y="1508760"/>
            <a:ext cx="2606040" cy="2286000"/>
          </a:xfrm>
          <a:prstGeom prst="roundRect">
            <a:avLst>
              <a:gd name="adj" fmla="val 2000"/>
            </a:avLst>
          </a:prstGeom>
          <a:solidFill>
            <a:srgbClr val="F5F7FA"/>
          </a:solidFill>
          <a:ln w="12700">
            <a:solidFill>
              <a:srgbClr val="E2E6EC"/>
            </a:solidFill>
            <a:prstDash val="solid"/>
          </a:ln>
        </p:spPr>
      </p:sp>
      <p:sp>
        <p:nvSpPr>
          <p:cNvPr id="8" name="Shape 6"/>
          <p:cNvSpPr/>
          <p:nvPr/>
        </p:nvSpPr>
        <p:spPr>
          <a:xfrm>
            <a:off x="502920" y="1508760"/>
            <a:ext cx="45720" cy="2286000"/>
          </a:xfrm>
          <a:prstGeom prst="rect">
            <a:avLst/>
          </a:prstGeom>
          <a:solidFill>
            <a:srgbClr val="E2231A"/>
          </a:solidFill>
          <a:ln/>
        </p:spPr>
      </p:sp>
      <p:sp>
        <p:nvSpPr>
          <p:cNvPr id="9" name="Text 7"/>
          <p:cNvSpPr/>
          <p:nvPr/>
        </p:nvSpPr>
        <p:spPr>
          <a:xfrm>
            <a:off x="704088" y="1636776"/>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1.  '  closes your data</a:t>
            </a:r>
            <a:endParaRPr lang="en-US" sz="1300" dirty="0"/>
          </a:p>
        </p:txBody>
      </p:sp>
      <p:sp>
        <p:nvSpPr>
          <p:cNvPr id="10" name="Text 8"/>
          <p:cNvSpPr/>
          <p:nvPr/>
        </p:nvSpPr>
        <p:spPr>
          <a:xfrm>
            <a:off x="704088" y="1929384"/>
            <a:ext cx="2240280" cy="17373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The single quote marks the end of the value. Everything you type after it is parsed as query, not as a password.</a:t>
            </a:r>
            <a:endParaRPr lang="en-US" sz="1100" dirty="0"/>
          </a:p>
        </p:txBody>
      </p:sp>
      <p:sp>
        <p:nvSpPr>
          <p:cNvPr id="11" name="Shape 9"/>
          <p:cNvSpPr/>
          <p:nvPr/>
        </p:nvSpPr>
        <p:spPr>
          <a:xfrm>
            <a:off x="3291840" y="1508760"/>
            <a:ext cx="2606040" cy="2286000"/>
          </a:xfrm>
          <a:prstGeom prst="roundRect">
            <a:avLst>
              <a:gd name="adj" fmla="val 2000"/>
            </a:avLst>
          </a:prstGeom>
          <a:solidFill>
            <a:srgbClr val="F5F7FA"/>
          </a:solidFill>
          <a:ln w="12700">
            <a:solidFill>
              <a:srgbClr val="E2E6EC"/>
            </a:solidFill>
            <a:prstDash val="solid"/>
          </a:ln>
        </p:spPr>
      </p:sp>
      <p:sp>
        <p:nvSpPr>
          <p:cNvPr id="12" name="Shape 10"/>
          <p:cNvSpPr/>
          <p:nvPr/>
        </p:nvSpPr>
        <p:spPr>
          <a:xfrm>
            <a:off x="3291840" y="1508760"/>
            <a:ext cx="45720" cy="2286000"/>
          </a:xfrm>
          <a:prstGeom prst="rect">
            <a:avLst/>
          </a:prstGeom>
          <a:solidFill>
            <a:srgbClr val="E2231A"/>
          </a:solidFill>
          <a:ln/>
        </p:spPr>
      </p:sp>
      <p:sp>
        <p:nvSpPr>
          <p:cNvPr id="13" name="Text 11"/>
          <p:cNvSpPr/>
          <p:nvPr/>
        </p:nvSpPr>
        <p:spPr>
          <a:xfrm>
            <a:off x="3493008" y="1636776"/>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2.  You may add instructions</a:t>
            </a:r>
            <a:endParaRPr lang="en-US" sz="1300" dirty="0"/>
          </a:p>
        </p:txBody>
      </p:sp>
      <p:sp>
        <p:nvSpPr>
          <p:cNvPr id="14" name="Text 12"/>
          <p:cNvSpPr/>
          <p:nvPr/>
        </p:nvSpPr>
        <p:spPr>
          <a:xfrm>
            <a:off x="3493008" y="1929384"/>
            <a:ext cx="2240280" cy="17373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Because the engine cannot tell data from code, you can append WHERE, OR, UNION, SELECT — whatever the database understands.</a:t>
            </a:r>
            <a:endParaRPr lang="en-US" sz="1100" dirty="0"/>
          </a:p>
        </p:txBody>
      </p:sp>
      <p:sp>
        <p:nvSpPr>
          <p:cNvPr id="15" name="Shape 13"/>
          <p:cNvSpPr/>
          <p:nvPr/>
        </p:nvSpPr>
        <p:spPr>
          <a:xfrm>
            <a:off x="6080760" y="1508760"/>
            <a:ext cx="2560320" cy="2286000"/>
          </a:xfrm>
          <a:prstGeom prst="roundRect">
            <a:avLst>
              <a:gd name="adj" fmla="val 2000"/>
            </a:avLst>
          </a:prstGeom>
          <a:solidFill>
            <a:srgbClr val="F5F7FA"/>
          </a:solidFill>
          <a:ln w="12700">
            <a:solidFill>
              <a:srgbClr val="E2E6EC"/>
            </a:solidFill>
            <a:prstDash val="solid"/>
          </a:ln>
        </p:spPr>
      </p:sp>
      <p:sp>
        <p:nvSpPr>
          <p:cNvPr id="16" name="Shape 14"/>
          <p:cNvSpPr/>
          <p:nvPr/>
        </p:nvSpPr>
        <p:spPr>
          <a:xfrm>
            <a:off x="6080760" y="1508760"/>
            <a:ext cx="45720" cy="2286000"/>
          </a:xfrm>
          <a:prstGeom prst="rect">
            <a:avLst/>
          </a:prstGeom>
          <a:solidFill>
            <a:srgbClr val="E2231A"/>
          </a:solidFill>
          <a:ln/>
        </p:spPr>
      </p:sp>
      <p:sp>
        <p:nvSpPr>
          <p:cNvPr id="17" name="Text 15"/>
          <p:cNvSpPr/>
          <p:nvPr/>
        </p:nvSpPr>
        <p:spPr>
          <a:xfrm>
            <a:off x="6281928" y="1636776"/>
            <a:ext cx="219456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3.  --  silences the rest</a:t>
            </a:r>
            <a:endParaRPr lang="en-US" sz="1300" dirty="0"/>
          </a:p>
        </p:txBody>
      </p:sp>
      <p:sp>
        <p:nvSpPr>
          <p:cNvPr id="18" name="Text 16"/>
          <p:cNvSpPr/>
          <p:nvPr/>
        </p:nvSpPr>
        <p:spPr>
          <a:xfrm>
            <a:off x="6281928" y="1929384"/>
            <a:ext cx="2194560" cy="17373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A comment eats the remainder of the line — usually the part that was checking your password, or a closing quote.</a:t>
            </a:r>
            <a:endParaRPr lang="en-US" sz="1100" dirty="0"/>
          </a:p>
        </p:txBody>
      </p:sp>
      <p:sp>
        <p:nvSpPr>
          <p:cNvPr id="19" name="Shape 17"/>
          <p:cNvSpPr/>
          <p:nvPr/>
        </p:nvSpPr>
        <p:spPr>
          <a:xfrm>
            <a:off x="502920" y="4023360"/>
            <a:ext cx="8138160" cy="621792"/>
          </a:xfrm>
          <a:prstGeom prst="roundRect">
            <a:avLst>
              <a:gd name="adj" fmla="val 8824"/>
            </a:avLst>
          </a:prstGeom>
          <a:solidFill>
            <a:srgbClr val="0A1D38"/>
          </a:solidFill>
          <a:ln/>
        </p:spPr>
      </p:sp>
      <p:sp>
        <p:nvSpPr>
          <p:cNvPr id="20" name="Text 18"/>
          <p:cNvSpPr/>
          <p:nvPr/>
        </p:nvSpPr>
        <p:spPr>
          <a:xfrm>
            <a:off x="731520" y="4023360"/>
            <a:ext cx="7680960" cy="621792"/>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Injection is not a database flaw.  </a:t>
            </a:r>
            <a:pPr indent="0" marL="0">
              <a:buNone/>
            </a:pPr>
            <a:r>
              <a:rPr lang="en-US" sz="1400" dirty="0">
                <a:solidFill>
                  <a:srgbClr val="A9BADA"/>
                </a:solidFill>
                <a:latin typeface="Segoe UI" pitchFamily="34" charset="0"/>
                <a:ea typeface="Segoe UI" pitchFamily="34" charset="-122"/>
                <a:cs typeface="Segoe UI" pitchFamily="34" charset="-120"/>
              </a:rPr>
              <a:t>It is an application flaw: the app failed to separate code from data.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LIVE DEMO</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Four attacks we run against the clone</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7</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8138160" cy="914400"/>
        </p:xfrm>
        <a:graphic>
          <a:graphicData uri="http://schemas.openxmlformats.org/drawingml/2006/table">
            <a:tbl>
              <a:tblPr/>
              <a:tblGrid>
                <a:gridCol w="548640"/>
                <a:gridCol w="3017520"/>
                <a:gridCol w="1097280"/>
                <a:gridCol w="3474720"/>
              </a:tblGrid>
              <a:tr h="457200">
                <a:tc>
                  <a:txBody>
                    <a:bodyPr/>
                    <a:lstStyle/>
                    <a:p>
                      <a:pPr indent="0" marL="0">
                        <a:buNone/>
                      </a:pPr>
                      <a:r>
                        <a:rPr lang="en-US" sz="1200" b="1" dirty="0">
                          <a:solidFill>
                            <a:srgbClr val="FFFFFF"/>
                          </a:solidFill>
                        </a:rPr>
                        <a:t>#</a:t>
                      </a:r>
                      <a:endParaRPr lang="en-US" sz="1200" dirty="0"/>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123156"/>
                    </a:solidFill>
                  </a:tcPr>
                </a:tc>
                <a:tc>
                  <a:txBody>
                    <a:bodyPr/>
                    <a:lstStyle/>
                    <a:p>
                      <a:pPr indent="0" marL="0">
                        <a:buNone/>
                      </a:pPr>
                      <a:r>
                        <a:rPr lang="en-US" sz="1200" b="1" dirty="0">
                          <a:solidFill>
                            <a:srgbClr val="FFFFFF"/>
                          </a:solidFill>
                        </a:rPr>
                        <a:t>Attack</a:t>
                      </a:r>
                      <a:endParaRPr lang="en-US" sz="1200" dirty="0"/>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123156"/>
                    </a:solidFill>
                  </a:tcPr>
                </a:tc>
                <a:tc>
                  <a:txBody>
                    <a:bodyPr/>
                    <a:lstStyle/>
                    <a:p>
                      <a:pPr indent="0" marL="0">
                        <a:buNone/>
                      </a:pPr>
                      <a:r>
                        <a:rPr lang="en-US" sz="1200" b="1" dirty="0">
                          <a:solidFill>
                            <a:srgbClr val="FFFFFF"/>
                          </a:solidFill>
                        </a:rPr>
                        <a:t>Requests</a:t>
                      </a:r>
                      <a:endParaRPr lang="en-US" sz="1200" dirty="0"/>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123156"/>
                    </a:solidFill>
                  </a:tcPr>
                </a:tc>
                <a:tc>
                  <a:txBody>
                    <a:bodyPr/>
                    <a:lstStyle/>
                    <a:p>
                      <a:pPr indent="0" marL="0">
                        <a:buNone/>
                      </a:pPr>
                      <a:r>
                        <a:rPr lang="en-US" sz="1200" b="1" dirty="0">
                          <a:solidFill>
                            <a:srgbClr val="FFFFFF"/>
                          </a:solidFill>
                        </a:rPr>
                        <a:t>What it proves</a:t>
                      </a:r>
                      <a:endParaRPr lang="en-US" sz="1200" dirty="0"/>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123156"/>
                    </a:solidFill>
                  </a:tcPr>
                </a:tc>
              </a:tr>
              <a:tr h="457200">
                <a:tc>
                  <a:txBody>
                    <a:bodyPr/>
                    <a:lstStyle/>
                    <a:p>
                      <a:pPr indent="0" marL="0">
                        <a:buNone/>
                      </a:pPr>
                      <a:r>
                        <a:rPr lang="en-US" sz="1250" b="1" dirty="0">
                          <a:solidFill>
                            <a:srgbClr val="E2231A"/>
                          </a:solidFill>
                          <a:latin typeface="Consolas" pitchFamily="34" charset="0"/>
                          <a:ea typeface="Consolas" pitchFamily="34" charset="-122"/>
                          <a:cs typeface="Consolas" pitchFamily="34" charset="-120"/>
                        </a:rPr>
                        <a:t>03</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Tautology bypass  ' OR 1=1--</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c>
                  <a:txBody>
                    <a:bodyPr/>
                    <a:lstStyle/>
                    <a:p>
                      <a:pPr indent="0" marL="0">
                        <a:buNone/>
                      </a:pPr>
                      <a:r>
                        <a:rPr lang="en-US" sz="1250" dirty="0">
                          <a:solidFill>
                            <a:srgbClr val="1B1B1B"/>
                          </a:solidFill>
                          <a:latin typeface="Consolas" pitchFamily="34" charset="0"/>
                          <a:ea typeface="Consolas" pitchFamily="34" charset="-122"/>
                          <a:cs typeface="Consolas" pitchFamily="34" charset="-120"/>
                        </a:rPr>
                        <a:t>1</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Skip the password check entirely</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r>
              <a:tr h="457200">
                <a:tc>
                  <a:txBody>
                    <a:bodyPr/>
                    <a:lstStyle/>
                    <a:p>
                      <a:pPr indent="0" marL="0">
                        <a:buNone/>
                      </a:pPr>
                      <a:r>
                        <a:rPr lang="en-US" sz="1250" b="1" dirty="0">
                          <a:solidFill>
                            <a:srgbClr val="E2231A"/>
                          </a:solidFill>
                          <a:latin typeface="Consolas" pitchFamily="34" charset="0"/>
                          <a:ea typeface="Consolas" pitchFamily="34" charset="-122"/>
                          <a:cs typeface="Consolas" pitchFamily="34" charset="-120"/>
                        </a:rPr>
                        <a:t>04</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UNION SELECT dump</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250" dirty="0">
                          <a:solidFill>
                            <a:srgbClr val="1B1B1B"/>
                          </a:solidFill>
                          <a:latin typeface="Consolas" pitchFamily="34" charset="0"/>
                          <a:ea typeface="Consolas" pitchFamily="34" charset="-122"/>
                          <a:cs typeface="Consolas" pitchFamily="34" charset="-120"/>
                        </a:rPr>
                        <a:t>1</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Download the whole users table in one go</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E2231A"/>
                          </a:solidFill>
                          <a:latin typeface="Consolas" pitchFamily="34" charset="0"/>
                          <a:ea typeface="Consolas" pitchFamily="34" charset="-122"/>
                          <a:cs typeface="Consolas" pitchFamily="34" charset="-120"/>
                        </a:rPr>
                        <a:t>01</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Boolean blind extraction</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c>
                  <a:txBody>
                    <a:bodyPr/>
                    <a:lstStyle/>
                    <a:p>
                      <a:pPr indent="0" marL="0">
                        <a:buNone/>
                      </a:pPr>
                      <a:r>
                        <a:rPr lang="en-US" sz="1250" dirty="0">
                          <a:solidFill>
                            <a:srgbClr val="1B1B1B"/>
                          </a:solidFill>
                          <a:latin typeface="Consolas" pitchFamily="34" charset="0"/>
                          <a:ea typeface="Consolas" pitchFamily="34" charset="-122"/>
                          <a:cs typeface="Consolas" pitchFamily="34" charset="-120"/>
                        </a:rPr>
                        <a:t>~90</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Read the password out, character by character</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5F7FA"/>
                    </a:solidFill>
                  </a:tcPr>
                </a:tc>
              </a:tr>
              <a:tr h="457200">
                <a:tc>
                  <a:txBody>
                    <a:bodyPr/>
                    <a:lstStyle/>
                    <a:p>
                      <a:pPr indent="0" marL="0">
                        <a:buNone/>
                      </a:pPr>
                      <a:r>
                        <a:rPr lang="en-US" sz="1250" b="1" dirty="0">
                          <a:solidFill>
                            <a:srgbClr val="E2231A"/>
                          </a:solidFill>
                          <a:latin typeface="Consolas" pitchFamily="34" charset="0"/>
                          <a:ea typeface="Consolas" pitchFamily="34" charset="-122"/>
                          <a:cs typeface="Consolas" pitchFamily="34" charset="-120"/>
                        </a:rPr>
                        <a:t>02</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Dictionary / brute force</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250" dirty="0">
                          <a:solidFill>
                            <a:srgbClr val="1B1B1B"/>
                          </a:solidFill>
                          <a:latin typeface="Consolas" pitchFamily="34" charset="0"/>
                          <a:ea typeface="Consolas" pitchFamily="34" charset="-122"/>
                          <a:cs typeface="Consolas" pitchFamily="34" charset="-120"/>
                        </a:rPr>
                        <a:t>~85</a:t>
                      </a:r>
                      <a:endParaRPr lang="en-US" sz="1250" dirty="0">
                        <a:latin typeface="Consolas" charset="0"/>
                        <a:ea typeface="Consolas" charset="0"/>
                        <a:cs typeface="Consolas"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c>
                  <a:txBody>
                    <a:bodyPr/>
                    <a:lstStyle/>
                    <a:p>
                      <a:pPr indent="0" marL="0">
                        <a:buNone/>
                      </a:pPr>
                      <a:r>
                        <a:rPr lang="en-US" sz="1250" dirty="0">
                          <a:solidFill>
                            <a:srgbClr val="1B1B1B"/>
                          </a:solidFill>
                          <a:latin typeface="Segoe UI" pitchFamily="34" charset="0"/>
                          <a:ea typeface="Segoe UI" pitchFamily="34" charset="-122"/>
                          <a:cs typeface="Segoe UI" pitchFamily="34" charset="-120"/>
                        </a:rPr>
                        <a:t>Keep trying until one candidate is accepted</a:t>
                      </a:r>
                      <a:endParaRPr lang="en-US" sz="1250" dirty="0">
                        <a:latin typeface="Segoe UI" charset="0"/>
                        <a:ea typeface="Segoe UI" charset="0"/>
                        <a:cs typeface="Segoe UI" charset="0"/>
                      </a:endParaRPr>
                    </a:p>
                  </a:txBody>
                  <a:tcPr marL="63500" marR="63500" marT="63500" marB="63500" anchor="ctr">
                    <a:lnL w="12700" cap="flat" cmpd="sng" algn="ctr">
                      <a:solidFill>
                        <a:srgbClr val="E2E6EC"/>
                      </a:solidFill>
                      <a:prstDash val="solid"/>
                      <a:round/>
                      <a:headEnd type="none" w="med" len="med"/>
                      <a:tailEnd type="none" w="med" len="med"/>
                    </a:lnL>
                    <a:lnR w="12700" cap="flat" cmpd="sng" algn="ctr">
                      <a:solidFill>
                        <a:srgbClr val="E2E6EC"/>
                      </a:solidFill>
                      <a:prstDash val="solid"/>
                      <a:round/>
                      <a:headEnd type="none" w="med" len="med"/>
                      <a:tailEnd type="none" w="med" len="med"/>
                    </a:lnR>
                    <a:lnT w="12700" cap="flat" cmpd="sng" algn="ctr">
                      <a:solidFill>
                        <a:srgbClr val="E2E6EC"/>
                      </a:solidFill>
                      <a:prstDash val="solid"/>
                      <a:round/>
                      <a:headEnd type="none" w="med" len="med"/>
                      <a:tailEnd type="none" w="med" len="med"/>
                    </a:lnT>
                    <a:lnB w="12700" cap="flat" cmpd="sng" algn="ctr">
                      <a:solidFill>
                        <a:srgbClr val="E2E6EC"/>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3794760"/>
            <a:ext cx="8138160" cy="777240"/>
          </a:xfrm>
          <a:prstGeom prst="roundRect">
            <a:avLst>
              <a:gd name="adj" fmla="val 7059"/>
            </a:avLst>
          </a:prstGeom>
          <a:solidFill>
            <a:srgbClr val="FFF4F3"/>
          </a:solidFill>
          <a:ln w="12700">
            <a:solidFill>
              <a:srgbClr val="F6C9C5"/>
            </a:solidFill>
            <a:prstDash val="solid"/>
          </a:ln>
        </p:spPr>
      </p:sp>
      <p:sp>
        <p:nvSpPr>
          <p:cNvPr id="9" name="Text 6"/>
          <p:cNvSpPr/>
          <p:nvPr/>
        </p:nvSpPr>
        <p:spPr>
          <a:xfrm>
            <a:off x="713232" y="3794760"/>
            <a:ext cx="7726680" cy="777240"/>
          </a:xfrm>
          <a:prstGeom prst="rect">
            <a:avLst/>
          </a:prstGeom>
          <a:noFill/>
          <a:ln/>
        </p:spPr>
        <p:txBody>
          <a:bodyPr wrap="square" rtlCol="0" anchor="ctr"/>
          <a:lstStyle/>
          <a:p>
            <a:pPr indent="0" marL="0">
              <a:buNone/>
            </a:pPr>
            <a:r>
              <a:rPr lang="en-US" sz="1300" b="1" dirty="0">
                <a:solidFill>
                  <a:srgbClr val="E2231A"/>
                </a:solidFill>
                <a:latin typeface="Segoe UI" pitchFamily="34" charset="0"/>
                <a:ea typeface="Segoe UI" pitchFamily="34" charset="-122"/>
                <a:cs typeface="Segoe UI" pitchFamily="34" charset="-120"/>
              </a:rPr>
              <a:t>Notice the order: </a:t>
            </a:r>
            <a:pPr indent="0" marL="0">
              <a:buNone/>
            </a:pPr>
            <a:r>
              <a:rPr lang="en-US" sz="1300" dirty="0">
                <a:solidFill>
                  <a:srgbClr val="6B3A36"/>
                </a:solidFill>
                <a:latin typeface="Segoe UI" pitchFamily="34" charset="0"/>
                <a:ea typeface="Segoe UI" pitchFamily="34" charset="-122"/>
                <a:cs typeface="Segoe UI" pitchFamily="34" charset="-120"/>
              </a:rPr>
              <a:t>the flashy one-request attacks come first, then the quiet one that needs ~90 requests — </a:t>
            </a:r>
            <a:pPr indent="0" marL="0">
              <a:buNone/>
            </a:pPr>
            <a:r>
              <a:rPr lang="en-US" sz="1300" b="1" dirty="0">
                <a:solidFill>
                  <a:srgbClr val="6B3A36"/>
                </a:solidFill>
                <a:latin typeface="Segoe UI" pitchFamily="34" charset="0"/>
                <a:ea typeface="Segoe UI" pitchFamily="34" charset="-122"/>
                <a:cs typeface="Segoe UI" pitchFamily="34" charset="-120"/>
              </a:rPr>
              <a:t>that quiet one is what real attackers prefer when a site gives no feedback.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D38"/>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FINALE</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FFFFFF"/>
                </a:solidFill>
                <a:latin typeface="Segoe UI" pitchFamily="34" charset="0"/>
                <a:ea typeface="Segoe UI" pitchFamily="34" charset="-122"/>
                <a:cs typeface="Segoe UI" pitchFamily="34" charset="-120"/>
              </a:rPr>
              <a:t>Watch the password appear</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6F82A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6F82A8"/>
                </a:solidFill>
                <a:latin typeface="Segoe UI" pitchFamily="34" charset="0"/>
                <a:ea typeface="Segoe UI" pitchFamily="34" charset="-122"/>
                <a:cs typeface="Segoe UI" pitchFamily="34" charset="-120"/>
              </a:rPr>
              <a:t>8</a:t>
            </a:r>
            <a:endParaRPr lang="en-US" sz="850" dirty="0"/>
          </a:p>
        </p:txBody>
      </p:sp>
      <p:sp>
        <p:nvSpPr>
          <p:cNvPr id="7" name="Shape 5"/>
          <p:cNvSpPr/>
          <p:nvPr/>
        </p:nvSpPr>
        <p:spPr>
          <a:xfrm>
            <a:off x="502920" y="1517904"/>
            <a:ext cx="402336" cy="402336"/>
          </a:xfrm>
          <a:prstGeom prst="roundRect">
            <a:avLst>
              <a:gd name="adj" fmla="val 13636"/>
            </a:avLst>
          </a:prstGeom>
          <a:solidFill>
            <a:srgbClr val="E2231A"/>
          </a:solidFill>
          <a:ln/>
        </p:spPr>
      </p:sp>
      <p:sp>
        <p:nvSpPr>
          <p:cNvPr id="8" name="Text 6"/>
          <p:cNvSpPr/>
          <p:nvPr/>
        </p:nvSpPr>
        <p:spPr>
          <a:xfrm>
            <a:off x="502920" y="1517904"/>
            <a:ext cx="402336" cy="402336"/>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9" name="Text 7"/>
          <p:cNvSpPr/>
          <p:nvPr/>
        </p:nvSpPr>
        <p:spPr>
          <a:xfrm>
            <a:off x="1051560" y="1499616"/>
            <a:ext cx="7589520" cy="457200"/>
          </a:xfrm>
          <a:prstGeom prst="rect">
            <a:avLst/>
          </a:prstGeom>
          <a:noFill/>
          <a:ln/>
        </p:spPr>
        <p:txBody>
          <a:bodyPr wrap="square" rtlCol="0" anchor="ctr"/>
          <a:lstStyle/>
          <a:p>
            <a:pPr indent="0" marL="0">
              <a:buNone/>
            </a:pPr>
            <a:r>
              <a:rPr lang="en-US" sz="1500" dirty="0">
                <a:solidFill>
                  <a:srgbClr val="DCE6F7"/>
                </a:solidFill>
                <a:latin typeface="Segoe UI" pitchFamily="34" charset="0"/>
                <a:ea typeface="Segoe UI" pitchFamily="34" charset="-122"/>
                <a:cs typeface="Segoe UI" pitchFamily="34" charset="-120"/>
              </a:rPr>
              <a:t>The panel types a probe into the Username field and presses Sign In</a:t>
            </a:r>
            <a:endParaRPr lang="en-US" sz="1500" dirty="0"/>
          </a:p>
        </p:txBody>
      </p:sp>
      <p:sp>
        <p:nvSpPr>
          <p:cNvPr id="10" name="Shape 8"/>
          <p:cNvSpPr/>
          <p:nvPr/>
        </p:nvSpPr>
        <p:spPr>
          <a:xfrm>
            <a:off x="502920" y="2121408"/>
            <a:ext cx="402336" cy="402336"/>
          </a:xfrm>
          <a:prstGeom prst="roundRect">
            <a:avLst>
              <a:gd name="adj" fmla="val 13636"/>
            </a:avLst>
          </a:prstGeom>
          <a:solidFill>
            <a:srgbClr val="E2231A"/>
          </a:solidFill>
          <a:ln/>
        </p:spPr>
      </p:sp>
      <p:sp>
        <p:nvSpPr>
          <p:cNvPr id="11" name="Text 9"/>
          <p:cNvSpPr/>
          <p:nvPr/>
        </p:nvSpPr>
        <p:spPr>
          <a:xfrm>
            <a:off x="502920" y="2121408"/>
            <a:ext cx="402336" cy="402336"/>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2" name="Text 10"/>
          <p:cNvSpPr/>
          <p:nvPr/>
        </p:nvSpPr>
        <p:spPr>
          <a:xfrm>
            <a:off x="1051560" y="2103120"/>
            <a:ext cx="7589520" cy="457200"/>
          </a:xfrm>
          <a:prstGeom prst="rect">
            <a:avLst/>
          </a:prstGeom>
          <a:noFill/>
          <a:ln/>
        </p:spPr>
        <p:txBody>
          <a:bodyPr wrap="square" rtlCol="0" anchor="ctr"/>
          <a:lstStyle/>
          <a:p>
            <a:pPr indent="0" marL="0">
              <a:buNone/>
            </a:pPr>
            <a:r>
              <a:rPr lang="en-US" sz="1500" dirty="0">
                <a:solidFill>
                  <a:srgbClr val="DCE6F7"/>
                </a:solidFill>
                <a:latin typeface="Segoe UI" pitchFamily="34" charset="0"/>
                <a:ea typeface="Segoe UI" pitchFamily="34" charset="-122"/>
                <a:cs typeface="Segoe UI" pitchFamily="34" charset="-120"/>
              </a:rPr>
              <a:t>The server answers only “Invalid username.” or “Invalid password.”</a:t>
            </a:r>
            <a:endParaRPr lang="en-US" sz="1500" dirty="0"/>
          </a:p>
        </p:txBody>
      </p:sp>
      <p:sp>
        <p:nvSpPr>
          <p:cNvPr id="13" name="Shape 11"/>
          <p:cNvSpPr/>
          <p:nvPr/>
        </p:nvSpPr>
        <p:spPr>
          <a:xfrm>
            <a:off x="502920" y="2724912"/>
            <a:ext cx="402336" cy="402336"/>
          </a:xfrm>
          <a:prstGeom prst="roundRect">
            <a:avLst>
              <a:gd name="adj" fmla="val 13636"/>
            </a:avLst>
          </a:prstGeom>
          <a:solidFill>
            <a:srgbClr val="E2231A"/>
          </a:solidFill>
          <a:ln/>
        </p:spPr>
      </p:sp>
      <p:sp>
        <p:nvSpPr>
          <p:cNvPr id="14" name="Text 12"/>
          <p:cNvSpPr/>
          <p:nvPr/>
        </p:nvSpPr>
        <p:spPr>
          <a:xfrm>
            <a:off x="502920" y="2724912"/>
            <a:ext cx="402336" cy="402336"/>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15" name="Text 13"/>
          <p:cNvSpPr/>
          <p:nvPr/>
        </p:nvSpPr>
        <p:spPr>
          <a:xfrm>
            <a:off x="1051560" y="2706624"/>
            <a:ext cx="7589520" cy="457200"/>
          </a:xfrm>
          <a:prstGeom prst="rect">
            <a:avLst/>
          </a:prstGeom>
          <a:noFill/>
          <a:ln/>
        </p:spPr>
        <p:txBody>
          <a:bodyPr wrap="square" rtlCol="0" anchor="ctr"/>
          <a:lstStyle/>
          <a:p>
            <a:pPr indent="0" marL="0">
              <a:buNone/>
            </a:pPr>
            <a:r>
              <a:rPr lang="en-US" sz="1500" dirty="0">
                <a:solidFill>
                  <a:srgbClr val="DCE6F7"/>
                </a:solidFill>
                <a:latin typeface="Segoe UI" pitchFamily="34" charset="0"/>
                <a:ea typeface="Segoe UI" pitchFamily="34" charset="-122"/>
                <a:cs typeface="Segoe UI" pitchFamily="34" charset="-120"/>
              </a:rPr>
              <a:t>True / false is one bit — so the tool asks yes/no questions in binary search</a:t>
            </a:r>
            <a:endParaRPr lang="en-US" sz="1500" dirty="0"/>
          </a:p>
        </p:txBody>
      </p:sp>
      <p:sp>
        <p:nvSpPr>
          <p:cNvPr id="16" name="Shape 14"/>
          <p:cNvSpPr/>
          <p:nvPr/>
        </p:nvSpPr>
        <p:spPr>
          <a:xfrm>
            <a:off x="502920" y="3328416"/>
            <a:ext cx="402336" cy="402336"/>
          </a:xfrm>
          <a:prstGeom prst="roundRect">
            <a:avLst>
              <a:gd name="adj" fmla="val 13636"/>
            </a:avLst>
          </a:prstGeom>
          <a:solidFill>
            <a:srgbClr val="E2231A"/>
          </a:solidFill>
          <a:ln/>
        </p:spPr>
      </p:sp>
      <p:sp>
        <p:nvSpPr>
          <p:cNvPr id="17" name="Text 15"/>
          <p:cNvSpPr/>
          <p:nvPr/>
        </p:nvSpPr>
        <p:spPr>
          <a:xfrm>
            <a:off x="502920" y="3328416"/>
            <a:ext cx="402336" cy="402336"/>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18" name="Text 16"/>
          <p:cNvSpPr/>
          <p:nvPr/>
        </p:nvSpPr>
        <p:spPr>
          <a:xfrm>
            <a:off x="1051560" y="3310128"/>
            <a:ext cx="7589520" cy="457200"/>
          </a:xfrm>
          <a:prstGeom prst="rect">
            <a:avLst/>
          </a:prstGeom>
          <a:noFill/>
          <a:ln/>
        </p:spPr>
        <p:txBody>
          <a:bodyPr wrap="square" rtlCol="0" anchor="ctr"/>
          <a:lstStyle/>
          <a:p>
            <a:pPr indent="0" marL="0">
              <a:buNone/>
            </a:pPr>
            <a:r>
              <a:rPr lang="en-US" sz="1500" dirty="0">
                <a:solidFill>
                  <a:srgbClr val="DCE6F7"/>
                </a:solidFill>
                <a:latin typeface="Segoe UI" pitchFamily="34" charset="0"/>
                <a:ea typeface="Segoe UI" pitchFamily="34" charset="-122"/>
                <a:cs typeface="Segoe UI" pitchFamily="34" charset="-120"/>
              </a:rPr>
              <a:t>Each confirmed character lands in the Recovered password field, left to right</a:t>
            </a:r>
            <a:endParaRPr lang="en-US" sz="1500" dirty="0"/>
          </a:p>
        </p:txBody>
      </p:sp>
      <p:sp>
        <p:nvSpPr>
          <p:cNvPr id="19" name="Shape 17"/>
          <p:cNvSpPr/>
          <p:nvPr/>
        </p:nvSpPr>
        <p:spPr>
          <a:xfrm>
            <a:off x="502920" y="3977640"/>
            <a:ext cx="8138160" cy="658368"/>
          </a:xfrm>
          <a:prstGeom prst="roundRect">
            <a:avLst>
              <a:gd name="adj" fmla="val 8333"/>
            </a:avLst>
          </a:prstGeom>
          <a:solidFill>
            <a:srgbClr val="07111F"/>
          </a:solidFill>
          <a:ln w="12700">
            <a:solidFill>
              <a:srgbClr val="24487C"/>
            </a:solidFill>
            <a:prstDash val="solid"/>
          </a:ln>
        </p:spPr>
      </p:sp>
      <p:sp>
        <p:nvSpPr>
          <p:cNvPr id="20" name="Text 18"/>
          <p:cNvSpPr/>
          <p:nvPr/>
        </p:nvSpPr>
        <p:spPr>
          <a:xfrm>
            <a:off x="731520" y="3977640"/>
            <a:ext cx="7680960" cy="658368"/>
          </a:xfrm>
          <a:prstGeom prst="rect">
            <a:avLst/>
          </a:prstGeom>
          <a:noFill/>
          <a:ln/>
        </p:spPr>
        <p:txBody>
          <a:bodyPr wrap="square" rtlCol="0" anchor="ctr"/>
          <a:lstStyle/>
          <a:p>
            <a:pPr indent="0" marL="0">
              <a:buNone/>
            </a:pPr>
            <a:r>
              <a:rPr lang="en-US" sz="1100" b="1" dirty="0">
                <a:solidFill>
                  <a:srgbClr val="7D8CA8"/>
                </a:solidFill>
                <a:latin typeface="Consolas" pitchFamily="34" charset="0"/>
                <a:ea typeface="Consolas" pitchFamily="34" charset="-122"/>
                <a:cs typeface="Consolas" pitchFamily="34" charset="-120"/>
              </a:rPr>
              <a:t>RECOVERED  </a:t>
            </a:r>
            <a:pPr indent="0" marL="0">
              <a:buNone/>
            </a:pPr>
            <a:r>
              <a:rPr lang="en-US" sz="1700" b="1" dirty="0">
                <a:solidFill>
                  <a:srgbClr val="4ADE80"/>
                </a:solidFill>
                <a:latin typeface="Consolas" pitchFamily="34" charset="0"/>
                <a:ea typeface="Consolas" pitchFamily="34" charset="-122"/>
                <a:cs typeface="Consolas" pitchFamily="34" charset="-120"/>
              </a:rPr>
              <a:t>M a p u a M C L 2 0 2 6</a:t>
            </a:r>
            <a:pPr indent="0" marL="0">
              <a:buNone/>
            </a:pPr>
            <a:r>
              <a:rPr lang="en-US" sz="1200" dirty="0">
                <a:solidFill>
                  <a:srgbClr val="8FA3CC"/>
                </a:solidFill>
                <a:latin typeface="Segoe UI" pitchFamily="34" charset="0"/>
                <a:ea typeface="Segoe UI" pitchFamily="34" charset="-122"/>
                <a:cs typeface="Segoe UI" pitchFamily="34" charset="-120"/>
              </a:rPr>
              <a:t>    ← never guessed, never shown, simply read out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HOW BLIND SQLI WORKS</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Yes / no is enough to read anything</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9</a:t>
            </a:r>
            <a:endParaRPr lang="en-US" sz="850" dirty="0"/>
          </a:p>
        </p:txBody>
      </p:sp>
      <p:sp>
        <p:nvSpPr>
          <p:cNvPr id="7" name="Text 5"/>
          <p:cNvSpPr/>
          <p:nvPr/>
        </p:nvSpPr>
        <p:spPr>
          <a:xfrm>
            <a:off x="502920" y="1444752"/>
            <a:ext cx="8138160" cy="329184"/>
          </a:xfrm>
          <a:prstGeom prst="rect">
            <a:avLst/>
          </a:prstGeom>
          <a:noFill/>
          <a:ln/>
        </p:spPr>
        <p:txBody>
          <a:bodyPr wrap="square" rtlCol="0" anchor="ctr"/>
          <a:lstStyle/>
          <a:p>
            <a:pPr indent="0" marL="0">
              <a:buNone/>
            </a:pPr>
            <a:r>
              <a:rPr lang="en-US" sz="1400" dirty="0">
                <a:solidFill>
                  <a:srgbClr val="5A6474"/>
                </a:solidFill>
                <a:latin typeface="Segoe UI" pitchFamily="34" charset="0"/>
                <a:ea typeface="Segoe UI" pitchFamily="34" charset="-122"/>
                <a:cs typeface="Segoe UI" pitchFamily="34" charset="-120"/>
              </a:rPr>
              <a:t>The form gives two different error messages — and that difference is a signal:</a:t>
            </a:r>
            <a:endParaRPr lang="en-US" sz="1400" dirty="0"/>
          </a:p>
        </p:txBody>
      </p:sp>
      <p:sp>
        <p:nvSpPr>
          <p:cNvPr id="8" name="Shape 6"/>
          <p:cNvSpPr/>
          <p:nvPr/>
        </p:nvSpPr>
        <p:spPr>
          <a:xfrm>
            <a:off x="502920" y="1847088"/>
            <a:ext cx="8138160" cy="1600200"/>
          </a:xfrm>
          <a:prstGeom prst="roundRect">
            <a:avLst>
              <a:gd name="adj" fmla="val 3429"/>
            </a:avLst>
          </a:prstGeom>
          <a:solidFill>
            <a:srgbClr val="070B16"/>
          </a:solidFill>
          <a:ln w="12700">
            <a:solidFill>
              <a:srgbClr val="1B2540"/>
            </a:solidFill>
            <a:prstDash val="solid"/>
          </a:ln>
        </p:spPr>
      </p:sp>
      <p:sp>
        <p:nvSpPr>
          <p:cNvPr id="9" name="Text 7"/>
          <p:cNvSpPr/>
          <p:nvPr/>
        </p:nvSpPr>
        <p:spPr>
          <a:xfrm>
            <a:off x="685800" y="1975104"/>
            <a:ext cx="7772400" cy="1344168"/>
          </a:xfrm>
          <a:prstGeom prst="rect">
            <a:avLst/>
          </a:prstGeom>
          <a:noFill/>
          <a:ln/>
        </p:spPr>
        <p:txBody>
          <a:bodyPr wrap="square" rtlCol="0" anchor="t"/>
          <a:lstStyle/>
          <a:p>
            <a:pPr algn="l" indent="0" marL="0">
              <a:buNone/>
            </a:pPr>
            <a:r>
              <a:rPr lang="en-US" sz="1100" dirty="0">
                <a:solidFill>
                  <a:srgbClr val="7D8CA8"/>
                </a:solidFill>
                <a:latin typeface="Consolas" pitchFamily="34" charset="0"/>
                <a:ea typeface="Consolas" pitchFamily="34" charset="-122"/>
                <a:cs typeface="Consolas" pitchFamily="34" charset="-120"/>
              </a:rPr>
              <a:t>username: </a:t>
            </a:r>
            <a:endParaRPr lang="en-US" sz="1100" dirty="0"/>
          </a:p>
          <a:p>
            <a:pPr algn="l" indent="0" marL="0">
              <a:buNone/>
            </a:pPr>
            <a:r>
              <a:rPr lang="en-US" sz="1100" b="1" dirty="0">
                <a:solidFill>
                  <a:srgbClr val="FF5F56"/>
                </a:solidFill>
                <a:latin typeface="Consolas" pitchFamily="34" charset="0"/>
                <a:ea typeface="Consolas" pitchFamily="34" charset="-122"/>
                <a:cs typeface="Consolas" pitchFamily="34" charset="-120"/>
              </a:rPr>
              <a:t>' OR (SELECT length(password) FROM users WHERE student_number='2024151326') &gt; 10-- </a:t>
            </a:r>
            <a:endParaRPr lang="en-US" sz="1100" dirty="0"/>
          </a:p>
          <a:p>
            <a:pPr algn="l" indent="0" marL="0">
              <a:buNone/>
            </a:pPr>
            <a:endParaRPr lang="en-US" sz="1100" dirty="0"/>
          </a:p>
          <a:p>
            <a:pPr algn="l" indent="0" marL="0">
              <a:buNone/>
            </a:pPr>
            <a:r>
              <a:rPr lang="en-US" sz="1100" dirty="0">
                <a:solidFill>
                  <a:srgbClr val="FF8F87"/>
                </a:solidFill>
                <a:latin typeface="Consolas" pitchFamily="34" charset="0"/>
                <a:ea typeface="Consolas" pitchFamily="34" charset="-122"/>
                <a:cs typeface="Consolas" pitchFamily="34" charset="-120"/>
              </a:rPr>
              <a:t>  → “Invalid username.”  </a:t>
            </a:r>
            <a:endParaRPr lang="en-US" sz="1100" dirty="0"/>
          </a:p>
          <a:p>
            <a:pPr algn="l" indent="0" marL="0">
              <a:buNone/>
            </a:pPr>
            <a:r>
              <a:rPr lang="en-US" sz="1100" dirty="0">
                <a:solidFill>
                  <a:srgbClr val="7D8CA8"/>
                </a:solidFill>
                <a:latin typeface="Consolas" pitchFamily="34" charset="0"/>
                <a:ea typeface="Consolas" pitchFamily="34" charset="-122"/>
                <a:cs typeface="Consolas" pitchFamily="34" charset="-120"/>
              </a:rPr>
              <a:t>condition FALSE  (no row)</a:t>
            </a:r>
            <a:endParaRPr lang="en-US" sz="1100" dirty="0"/>
          </a:p>
          <a:p>
            <a:pPr algn="l" indent="0" marL="0">
              <a:buNone/>
            </a:pPr>
            <a:endParaRPr lang="en-US" sz="1100" dirty="0"/>
          </a:p>
          <a:p>
            <a:pPr algn="l" indent="0" marL="0">
              <a:buNone/>
            </a:pPr>
            <a:r>
              <a:rPr lang="en-US" sz="1100" dirty="0">
                <a:solidFill>
                  <a:srgbClr val="9DE8BC"/>
                </a:solidFill>
                <a:latin typeface="Consolas" pitchFamily="34" charset="0"/>
                <a:ea typeface="Consolas" pitchFamily="34" charset="-122"/>
                <a:cs typeface="Consolas" pitchFamily="34" charset="-120"/>
              </a:rPr>
              <a:t>  → “Invalid password.” </a:t>
            </a:r>
            <a:endParaRPr lang="en-US" sz="1100" dirty="0"/>
          </a:p>
          <a:p>
            <a:pPr algn="l" indent="0" marL="0">
              <a:buNone/>
            </a:pPr>
            <a:r>
              <a:rPr lang="en-US" sz="1100" dirty="0">
                <a:solidFill>
                  <a:srgbClr val="7D8CA8"/>
                </a:solidFill>
                <a:latin typeface="Consolas" pitchFamily="34" charset="0"/>
                <a:ea typeface="Consolas" pitchFamily="34" charset="-122"/>
                <a:cs typeface="Consolas" pitchFamily="34" charset="-120"/>
              </a:rPr>
              <a:t>condition TRUE   (row found)</a:t>
            </a:r>
            <a:endParaRPr lang="en-US" sz="1100" dirty="0"/>
          </a:p>
        </p:txBody>
      </p:sp>
      <p:sp>
        <p:nvSpPr>
          <p:cNvPr id="10" name="Shape 8"/>
          <p:cNvSpPr/>
          <p:nvPr/>
        </p:nvSpPr>
        <p:spPr>
          <a:xfrm>
            <a:off x="502920" y="3520440"/>
            <a:ext cx="2606040" cy="1097280"/>
          </a:xfrm>
          <a:prstGeom prst="roundRect">
            <a:avLst>
              <a:gd name="adj" fmla="val 4167"/>
            </a:avLst>
          </a:prstGeom>
          <a:solidFill>
            <a:srgbClr val="F5F7FA"/>
          </a:solidFill>
          <a:ln w="12700">
            <a:solidFill>
              <a:srgbClr val="E2E6EC"/>
            </a:solidFill>
            <a:prstDash val="solid"/>
          </a:ln>
        </p:spPr>
      </p:sp>
      <p:sp>
        <p:nvSpPr>
          <p:cNvPr id="11" name="Shape 9"/>
          <p:cNvSpPr/>
          <p:nvPr/>
        </p:nvSpPr>
        <p:spPr>
          <a:xfrm>
            <a:off x="502920" y="3520440"/>
            <a:ext cx="45720" cy="1097280"/>
          </a:xfrm>
          <a:prstGeom prst="rect">
            <a:avLst/>
          </a:prstGeom>
          <a:solidFill>
            <a:srgbClr val="123156"/>
          </a:solidFill>
          <a:ln/>
        </p:spPr>
      </p:sp>
      <p:sp>
        <p:nvSpPr>
          <p:cNvPr id="12" name="Text 10"/>
          <p:cNvSpPr/>
          <p:nvPr/>
        </p:nvSpPr>
        <p:spPr>
          <a:xfrm>
            <a:off x="704088" y="3648456"/>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One probe = one bit</a:t>
            </a:r>
            <a:endParaRPr lang="en-US" sz="1300" dirty="0"/>
          </a:p>
        </p:txBody>
      </p:sp>
      <p:sp>
        <p:nvSpPr>
          <p:cNvPr id="13" name="Text 11"/>
          <p:cNvSpPr/>
          <p:nvPr/>
        </p:nvSpPr>
        <p:spPr>
          <a:xfrm>
            <a:off x="704088" y="3941064"/>
            <a:ext cx="2240280" cy="54864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Flip the test from &gt; 10 to &gt; 5 and ask again. The answer narrows the range every time.</a:t>
            </a:r>
            <a:endParaRPr lang="en-US" sz="1100" dirty="0"/>
          </a:p>
        </p:txBody>
      </p:sp>
      <p:sp>
        <p:nvSpPr>
          <p:cNvPr id="14" name="Shape 12"/>
          <p:cNvSpPr/>
          <p:nvPr/>
        </p:nvSpPr>
        <p:spPr>
          <a:xfrm>
            <a:off x="3291840" y="3520440"/>
            <a:ext cx="2606040" cy="1097280"/>
          </a:xfrm>
          <a:prstGeom prst="roundRect">
            <a:avLst>
              <a:gd name="adj" fmla="val 4167"/>
            </a:avLst>
          </a:prstGeom>
          <a:solidFill>
            <a:srgbClr val="F5F7FA"/>
          </a:solidFill>
          <a:ln w="12700">
            <a:solidFill>
              <a:srgbClr val="E2E6EC"/>
            </a:solidFill>
            <a:prstDash val="solid"/>
          </a:ln>
        </p:spPr>
      </p:sp>
      <p:sp>
        <p:nvSpPr>
          <p:cNvPr id="15" name="Shape 13"/>
          <p:cNvSpPr/>
          <p:nvPr/>
        </p:nvSpPr>
        <p:spPr>
          <a:xfrm>
            <a:off x="3291840" y="3520440"/>
            <a:ext cx="45720" cy="1097280"/>
          </a:xfrm>
          <a:prstGeom prst="rect">
            <a:avLst/>
          </a:prstGeom>
          <a:solidFill>
            <a:srgbClr val="123156"/>
          </a:solidFill>
          <a:ln/>
        </p:spPr>
      </p:sp>
      <p:sp>
        <p:nvSpPr>
          <p:cNvPr id="16" name="Text 14"/>
          <p:cNvSpPr/>
          <p:nvPr/>
        </p:nvSpPr>
        <p:spPr>
          <a:xfrm>
            <a:off x="3493008" y="3648456"/>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Binary search</a:t>
            </a:r>
            <a:endParaRPr lang="en-US" sz="1300" dirty="0"/>
          </a:p>
        </p:txBody>
      </p:sp>
      <p:sp>
        <p:nvSpPr>
          <p:cNvPr id="17" name="Text 15"/>
          <p:cNvSpPr/>
          <p:nvPr/>
        </p:nvSpPr>
        <p:spPr>
          <a:xfrm>
            <a:off x="3493008" y="3941064"/>
            <a:ext cx="2240280" cy="54864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95 possible characters → only 7 questions per position. Length first, then each character.</a:t>
            </a:r>
            <a:endParaRPr lang="en-US" sz="1100" dirty="0"/>
          </a:p>
        </p:txBody>
      </p:sp>
      <p:sp>
        <p:nvSpPr>
          <p:cNvPr id="18" name="Shape 16"/>
          <p:cNvSpPr/>
          <p:nvPr/>
        </p:nvSpPr>
        <p:spPr>
          <a:xfrm>
            <a:off x="6080760" y="3520440"/>
            <a:ext cx="2560320" cy="1097280"/>
          </a:xfrm>
          <a:prstGeom prst="roundRect">
            <a:avLst>
              <a:gd name="adj" fmla="val 4167"/>
            </a:avLst>
          </a:prstGeom>
          <a:solidFill>
            <a:srgbClr val="F5F7FA"/>
          </a:solidFill>
          <a:ln w="12700">
            <a:solidFill>
              <a:srgbClr val="E2E6EC"/>
            </a:solidFill>
            <a:prstDash val="solid"/>
          </a:ln>
        </p:spPr>
      </p:sp>
      <p:sp>
        <p:nvSpPr>
          <p:cNvPr id="19" name="Shape 17"/>
          <p:cNvSpPr/>
          <p:nvPr/>
        </p:nvSpPr>
        <p:spPr>
          <a:xfrm>
            <a:off x="6080760" y="3520440"/>
            <a:ext cx="45720" cy="1097280"/>
          </a:xfrm>
          <a:prstGeom prst="rect">
            <a:avLst/>
          </a:prstGeom>
          <a:solidFill>
            <a:srgbClr val="123156"/>
          </a:solidFill>
          <a:ln/>
        </p:spPr>
      </p:sp>
      <p:sp>
        <p:nvSpPr>
          <p:cNvPr id="20" name="Text 18"/>
          <p:cNvSpPr/>
          <p:nvPr/>
        </p:nvSpPr>
        <p:spPr>
          <a:xfrm>
            <a:off x="6281928" y="3648456"/>
            <a:ext cx="219456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Cost in the lab</a:t>
            </a:r>
            <a:endParaRPr lang="en-US" sz="1300" dirty="0"/>
          </a:p>
        </p:txBody>
      </p:sp>
      <p:sp>
        <p:nvSpPr>
          <p:cNvPr id="21" name="Text 19"/>
          <p:cNvSpPr/>
          <p:nvPr/>
        </p:nvSpPr>
        <p:spPr>
          <a:xfrm>
            <a:off x="6281928" y="3941064"/>
            <a:ext cx="2194560" cy="54864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~6 probes for the length + 7 per character ≈ 86 requests, about 5 seconds.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THE FAMILY</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Other flavours of SQL injection</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10</a:t>
            </a:r>
            <a:endParaRPr lang="en-US" sz="850" dirty="0"/>
          </a:p>
        </p:txBody>
      </p:sp>
      <p:sp>
        <p:nvSpPr>
          <p:cNvPr id="7" name="Shape 5"/>
          <p:cNvSpPr/>
          <p:nvPr/>
        </p:nvSpPr>
        <p:spPr>
          <a:xfrm>
            <a:off x="502920" y="1481328"/>
            <a:ext cx="3977640" cy="1051560"/>
          </a:xfrm>
          <a:prstGeom prst="roundRect">
            <a:avLst>
              <a:gd name="adj" fmla="val 4348"/>
            </a:avLst>
          </a:prstGeom>
          <a:solidFill>
            <a:srgbClr val="F5F7FA"/>
          </a:solidFill>
          <a:ln w="12700">
            <a:solidFill>
              <a:srgbClr val="E2E6EC"/>
            </a:solidFill>
            <a:prstDash val="solid"/>
          </a:ln>
        </p:spPr>
      </p:sp>
      <p:sp>
        <p:nvSpPr>
          <p:cNvPr id="8" name="Shape 6"/>
          <p:cNvSpPr/>
          <p:nvPr/>
        </p:nvSpPr>
        <p:spPr>
          <a:xfrm>
            <a:off x="502920" y="1481328"/>
            <a:ext cx="45720" cy="1051560"/>
          </a:xfrm>
          <a:prstGeom prst="rect">
            <a:avLst/>
          </a:prstGeom>
          <a:solidFill>
            <a:srgbClr val="E2231A"/>
          </a:solidFill>
          <a:ln/>
        </p:spPr>
      </p:sp>
      <p:sp>
        <p:nvSpPr>
          <p:cNvPr id="9" name="Text 7"/>
          <p:cNvSpPr/>
          <p:nvPr/>
        </p:nvSpPr>
        <p:spPr>
          <a:xfrm>
            <a:off x="704088" y="1609344"/>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UNION-based</a:t>
            </a:r>
            <a:endParaRPr lang="en-US" sz="1300" dirty="0"/>
          </a:p>
        </p:txBody>
      </p:sp>
      <p:sp>
        <p:nvSpPr>
          <p:cNvPr id="10" name="Text 8"/>
          <p:cNvSpPr/>
          <p:nvPr/>
        </p:nvSpPr>
        <p:spPr>
          <a:xfrm>
            <a:off x="704088" y="1901952"/>
            <a:ext cx="361188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Append your own SELECT so the result set includes the data you want (users, passwords, card numbers). Fastest when the output is visible. → mode 04</a:t>
            </a:r>
            <a:endParaRPr lang="en-US" sz="1100" dirty="0"/>
          </a:p>
        </p:txBody>
      </p:sp>
      <p:sp>
        <p:nvSpPr>
          <p:cNvPr id="11" name="Shape 9"/>
          <p:cNvSpPr/>
          <p:nvPr/>
        </p:nvSpPr>
        <p:spPr>
          <a:xfrm>
            <a:off x="4663440" y="1481328"/>
            <a:ext cx="3977640" cy="1051560"/>
          </a:xfrm>
          <a:prstGeom prst="roundRect">
            <a:avLst>
              <a:gd name="adj" fmla="val 4348"/>
            </a:avLst>
          </a:prstGeom>
          <a:solidFill>
            <a:srgbClr val="F5F7FA"/>
          </a:solidFill>
          <a:ln w="12700">
            <a:solidFill>
              <a:srgbClr val="E2E6EC"/>
            </a:solidFill>
            <a:prstDash val="solid"/>
          </a:ln>
        </p:spPr>
      </p:sp>
      <p:sp>
        <p:nvSpPr>
          <p:cNvPr id="12" name="Shape 10"/>
          <p:cNvSpPr/>
          <p:nvPr/>
        </p:nvSpPr>
        <p:spPr>
          <a:xfrm>
            <a:off x="4663440" y="1481328"/>
            <a:ext cx="45720" cy="1051560"/>
          </a:xfrm>
          <a:prstGeom prst="rect">
            <a:avLst/>
          </a:prstGeom>
          <a:solidFill>
            <a:srgbClr val="E2231A"/>
          </a:solidFill>
          <a:ln/>
        </p:spPr>
      </p:sp>
      <p:sp>
        <p:nvSpPr>
          <p:cNvPr id="13" name="Text 11"/>
          <p:cNvSpPr/>
          <p:nvPr/>
        </p:nvSpPr>
        <p:spPr>
          <a:xfrm>
            <a:off x="4864608" y="1609344"/>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Boolean blind</a:t>
            </a:r>
            <a:endParaRPr lang="en-US" sz="1300" dirty="0"/>
          </a:p>
        </p:txBody>
      </p:sp>
      <p:sp>
        <p:nvSpPr>
          <p:cNvPr id="14" name="Text 12"/>
          <p:cNvSpPr/>
          <p:nvPr/>
        </p:nvSpPr>
        <p:spPr>
          <a:xfrm>
            <a:off x="4864608" y="1901952"/>
            <a:ext cx="361188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No visible output: compare two error responses and rebuild the data bit by bit. → mode 01</a:t>
            </a:r>
            <a:endParaRPr lang="en-US" sz="1100" dirty="0"/>
          </a:p>
        </p:txBody>
      </p:sp>
      <p:sp>
        <p:nvSpPr>
          <p:cNvPr id="15" name="Shape 13"/>
          <p:cNvSpPr/>
          <p:nvPr/>
        </p:nvSpPr>
        <p:spPr>
          <a:xfrm>
            <a:off x="502920" y="2670048"/>
            <a:ext cx="3977640" cy="1051560"/>
          </a:xfrm>
          <a:prstGeom prst="roundRect">
            <a:avLst>
              <a:gd name="adj" fmla="val 4348"/>
            </a:avLst>
          </a:prstGeom>
          <a:solidFill>
            <a:srgbClr val="F5F7FA"/>
          </a:solidFill>
          <a:ln w="12700">
            <a:solidFill>
              <a:srgbClr val="E2E6EC"/>
            </a:solidFill>
            <a:prstDash val="solid"/>
          </a:ln>
        </p:spPr>
      </p:sp>
      <p:sp>
        <p:nvSpPr>
          <p:cNvPr id="16" name="Shape 14"/>
          <p:cNvSpPr/>
          <p:nvPr/>
        </p:nvSpPr>
        <p:spPr>
          <a:xfrm>
            <a:off x="502920" y="2670048"/>
            <a:ext cx="45720" cy="1051560"/>
          </a:xfrm>
          <a:prstGeom prst="rect">
            <a:avLst/>
          </a:prstGeom>
          <a:solidFill>
            <a:srgbClr val="123156"/>
          </a:solidFill>
          <a:ln/>
        </p:spPr>
      </p:sp>
      <p:sp>
        <p:nvSpPr>
          <p:cNvPr id="17" name="Text 15"/>
          <p:cNvSpPr/>
          <p:nvPr/>
        </p:nvSpPr>
        <p:spPr>
          <a:xfrm>
            <a:off x="704088" y="2798064"/>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Time-based blind</a:t>
            </a:r>
            <a:endParaRPr lang="en-US" sz="1300" dirty="0"/>
          </a:p>
        </p:txBody>
      </p:sp>
      <p:sp>
        <p:nvSpPr>
          <p:cNvPr id="18" name="Text 16"/>
          <p:cNvSpPr/>
          <p:nvPr/>
        </p:nvSpPr>
        <p:spPr>
          <a:xfrm>
            <a:off x="704088" y="3090672"/>
            <a:ext cx="361188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The payload makes the database sleep — “TRUE = slow, FALSE = fast”. Works even when the message is identical.</a:t>
            </a:r>
            <a:endParaRPr lang="en-US" sz="1100" dirty="0"/>
          </a:p>
        </p:txBody>
      </p:sp>
      <p:sp>
        <p:nvSpPr>
          <p:cNvPr id="19" name="Shape 17"/>
          <p:cNvSpPr/>
          <p:nvPr/>
        </p:nvSpPr>
        <p:spPr>
          <a:xfrm>
            <a:off x="4663440" y="2670048"/>
            <a:ext cx="3977640" cy="1051560"/>
          </a:xfrm>
          <a:prstGeom prst="roundRect">
            <a:avLst>
              <a:gd name="adj" fmla="val 4348"/>
            </a:avLst>
          </a:prstGeom>
          <a:solidFill>
            <a:srgbClr val="F5F7FA"/>
          </a:solidFill>
          <a:ln w="12700">
            <a:solidFill>
              <a:srgbClr val="E2E6EC"/>
            </a:solidFill>
            <a:prstDash val="solid"/>
          </a:ln>
        </p:spPr>
      </p:sp>
      <p:sp>
        <p:nvSpPr>
          <p:cNvPr id="20" name="Shape 18"/>
          <p:cNvSpPr/>
          <p:nvPr/>
        </p:nvSpPr>
        <p:spPr>
          <a:xfrm>
            <a:off x="4663440" y="2670048"/>
            <a:ext cx="45720" cy="1051560"/>
          </a:xfrm>
          <a:prstGeom prst="rect">
            <a:avLst/>
          </a:prstGeom>
          <a:solidFill>
            <a:srgbClr val="123156"/>
          </a:solidFill>
          <a:ln/>
        </p:spPr>
      </p:sp>
      <p:sp>
        <p:nvSpPr>
          <p:cNvPr id="21" name="Text 19"/>
          <p:cNvSpPr/>
          <p:nvPr/>
        </p:nvSpPr>
        <p:spPr>
          <a:xfrm>
            <a:off x="4864608" y="2798064"/>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Error-based</a:t>
            </a:r>
            <a:endParaRPr lang="en-US" sz="1300" dirty="0"/>
          </a:p>
        </p:txBody>
      </p:sp>
      <p:sp>
        <p:nvSpPr>
          <p:cNvPr id="22" name="Text 20"/>
          <p:cNvSpPr/>
          <p:nvPr/>
        </p:nvSpPr>
        <p:spPr>
          <a:xfrm>
            <a:off x="4864608" y="3090672"/>
            <a:ext cx="3611880" cy="50292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Force a conversion error and read the secret straight out of the error text. Happens when errors are shown to users.</a:t>
            </a:r>
            <a:endParaRPr lang="en-US" sz="1100" dirty="0"/>
          </a:p>
        </p:txBody>
      </p:sp>
      <p:sp>
        <p:nvSpPr>
          <p:cNvPr id="23" name="Shape 21"/>
          <p:cNvSpPr/>
          <p:nvPr/>
        </p:nvSpPr>
        <p:spPr>
          <a:xfrm>
            <a:off x="502920" y="3858768"/>
            <a:ext cx="8138160" cy="713232"/>
          </a:xfrm>
          <a:prstGeom prst="roundRect">
            <a:avLst>
              <a:gd name="adj" fmla="val 6410"/>
            </a:avLst>
          </a:prstGeom>
          <a:solidFill>
            <a:srgbClr val="F5F7FA"/>
          </a:solidFill>
          <a:ln w="12700">
            <a:solidFill>
              <a:srgbClr val="E2E6EC"/>
            </a:solidFill>
            <a:prstDash val="solid"/>
          </a:ln>
        </p:spPr>
      </p:sp>
      <p:sp>
        <p:nvSpPr>
          <p:cNvPr id="24" name="Shape 22"/>
          <p:cNvSpPr/>
          <p:nvPr/>
        </p:nvSpPr>
        <p:spPr>
          <a:xfrm>
            <a:off x="502920" y="3858768"/>
            <a:ext cx="45720" cy="713232"/>
          </a:xfrm>
          <a:prstGeom prst="rect">
            <a:avLst/>
          </a:prstGeom>
          <a:solidFill>
            <a:srgbClr val="5A6474"/>
          </a:solidFill>
          <a:ln/>
        </p:spPr>
      </p:sp>
      <p:sp>
        <p:nvSpPr>
          <p:cNvPr id="25" name="Text 23"/>
          <p:cNvSpPr/>
          <p:nvPr/>
        </p:nvSpPr>
        <p:spPr>
          <a:xfrm>
            <a:off x="704088" y="3986784"/>
            <a:ext cx="777240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Stacked queries &amp; out-of-band</a:t>
            </a:r>
            <a:endParaRPr lang="en-US" sz="1300" dirty="0"/>
          </a:p>
        </p:txBody>
      </p:sp>
      <p:sp>
        <p:nvSpPr>
          <p:cNvPr id="26" name="Text 24"/>
          <p:cNvSpPr/>
          <p:nvPr/>
        </p:nvSpPr>
        <p:spPr>
          <a:xfrm>
            <a:off x="704088" y="4279392"/>
            <a:ext cx="7772400" cy="164592"/>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Multiple statements (CREATE USER, DROP TABLE) or DNS/HTTP exfiltration — how injection turns into full server compromise, and why it stops being “just a database read”.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IMPACT</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What it costs when it goes wrong</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11</a:t>
            </a:r>
            <a:endParaRPr lang="en-US" sz="850" dirty="0"/>
          </a:p>
        </p:txBody>
      </p:sp>
      <p:sp>
        <p:nvSpPr>
          <p:cNvPr id="7" name="Text 5"/>
          <p:cNvSpPr/>
          <p:nvPr/>
        </p:nvSpPr>
        <p:spPr>
          <a:xfrm>
            <a:off x="502920" y="1554480"/>
            <a:ext cx="8138160" cy="2286000"/>
          </a:xfrm>
          <a:prstGeom prst="rect">
            <a:avLst/>
          </a:prstGeom>
          <a:noFill/>
          <a:ln/>
        </p:spPr>
        <p:txBody>
          <a:bodyPr wrap="square" rtlCol="0" anchor="t"/>
          <a:lstStyle/>
          <a:p>
            <a:pPr marL="203200" indent="-203200">
              <a:lnSpc>
                <a:spcPct val="125000"/>
              </a:lnSpc>
              <a:spcAft>
                <a:spcPts val="800"/>
              </a:spcAft>
              <a:buSzPct val="100000"/>
              <a:buChar char="▪"/>
            </a:pPr>
            <a:r>
              <a:rPr lang="en-US" sz="1550" b="1" dirty="0">
                <a:solidFill>
                  <a:srgbClr val="1B1B1B"/>
                </a:solidFill>
                <a:latin typeface="Segoe UI" pitchFamily="34" charset="0"/>
                <a:ea typeface="Segoe UI" pitchFamily="34" charset="-122"/>
                <a:cs typeface="Segoe UI" pitchFamily="34" charset="-120"/>
              </a:rPr>
              <a:t>Every row the application can read — passwords, personal data, grades, message archives</a:t>
            </a:r>
            <a:endParaRPr lang="en-US" sz="1550" dirty="0"/>
          </a:p>
          <a:p>
            <a:pPr marL="203200" indent="-203200">
              <a:lnSpc>
                <a:spcPct val="125000"/>
              </a:lnSpc>
              <a:spcAft>
                <a:spcPts val="800"/>
              </a:spcAft>
              <a:buSzPct val="100000"/>
              <a:buChar char="▪"/>
            </a:pPr>
            <a:r>
              <a:rPr lang="en-US" sz="1550" b="1" dirty="0">
                <a:solidFill>
                  <a:srgbClr val="1B1B1B"/>
                </a:solidFill>
                <a:latin typeface="Segoe UI" pitchFamily="34" charset="0"/>
                <a:ea typeface="Segoe UI" pitchFamily="34" charset="-122"/>
                <a:cs typeface="Segoe UI" pitchFamily="34" charset="-120"/>
              </a:rPr>
              <a:t>Account takeover, including administrative accounts</a:t>
            </a:r>
            <a:endParaRPr lang="en-US" sz="1550" dirty="0"/>
          </a:p>
          <a:p>
            <a:pPr marL="203200" indent="-203200">
              <a:lnSpc>
                <a:spcPct val="125000"/>
              </a:lnSpc>
              <a:spcAft>
                <a:spcPts val="800"/>
              </a:spcAft>
              <a:buSzPct val="100000"/>
              <a:buChar char="▪"/>
            </a:pPr>
            <a:r>
              <a:rPr lang="en-US" sz="1550" b="1" dirty="0">
                <a:solidFill>
                  <a:srgbClr val="1B1B1B"/>
                </a:solidFill>
                <a:latin typeface="Segoe UI" pitchFamily="34" charset="0"/>
                <a:ea typeface="Segoe UI" pitchFamily="34" charset="-122"/>
                <a:cs typeface="Segoe UI" pitchFamily="34" charset="-120"/>
              </a:rPr>
              <a:t>Data destroyed or held for ransom; defaced pages</a:t>
            </a:r>
            <a:endParaRPr lang="en-US" sz="1550" dirty="0"/>
          </a:p>
          <a:p>
            <a:pPr marL="203200" indent="-203200">
              <a:lnSpc>
                <a:spcPct val="125000"/>
              </a:lnSpc>
              <a:spcAft>
                <a:spcPts val="800"/>
              </a:spcAft>
              <a:buSzPct val="100000"/>
              <a:buChar char="▪"/>
            </a:pPr>
            <a:r>
              <a:rPr lang="en-US" sz="1550" b="1" dirty="0">
                <a:solidFill>
                  <a:srgbClr val="1B1B1B"/>
                </a:solidFill>
                <a:latin typeface="Segoe UI" pitchFamily="34" charset="0"/>
                <a:ea typeface="Segoe UI" pitchFamily="34" charset="-122"/>
                <a:cs typeface="Segoe UI" pitchFamily="34" charset="-120"/>
              </a:rPr>
              <a:t>A read-only bug that escalates into remote code execution on the database server</a:t>
            </a:r>
            <a:endParaRPr lang="en-US" sz="1550" dirty="0"/>
          </a:p>
          <a:p>
            <a:pPr marL="203200" indent="-203200">
              <a:lnSpc>
                <a:spcPct val="125000"/>
              </a:lnSpc>
              <a:spcAft>
                <a:spcPts val="800"/>
              </a:spcAft>
              <a:buSzPct val="100000"/>
              <a:buChar char="▪"/>
            </a:pPr>
            <a:r>
              <a:rPr lang="en-US" sz="1550" b="1" dirty="0">
                <a:solidFill>
                  <a:srgbClr val="1B1B1B"/>
                </a:solidFill>
                <a:latin typeface="Segoe UI" pitchFamily="34" charset="0"/>
                <a:ea typeface="Segoe UI" pitchFamily="34" charset="-122"/>
                <a:cs typeface="Segoe UI" pitchFamily="34" charset="-120"/>
              </a:rPr>
              <a:t>Breach notification, DPPA obligations, suspension, and permanent reputational damage</a:t>
            </a:r>
            <a:endParaRPr lang="en-US" sz="1550" dirty="0"/>
          </a:p>
        </p:txBody>
      </p:sp>
      <p:sp>
        <p:nvSpPr>
          <p:cNvPr id="8" name="Shape 6"/>
          <p:cNvSpPr/>
          <p:nvPr/>
        </p:nvSpPr>
        <p:spPr>
          <a:xfrm>
            <a:off x="502920" y="3794760"/>
            <a:ext cx="8138160" cy="777240"/>
          </a:xfrm>
          <a:prstGeom prst="roundRect">
            <a:avLst>
              <a:gd name="adj" fmla="val 7059"/>
            </a:avLst>
          </a:prstGeom>
          <a:solidFill>
            <a:srgbClr val="0A1D38"/>
          </a:solidFill>
          <a:ln/>
        </p:spPr>
      </p:sp>
      <p:sp>
        <p:nvSpPr>
          <p:cNvPr id="9" name="Text 7"/>
          <p:cNvSpPr/>
          <p:nvPr/>
        </p:nvSpPr>
        <p:spPr>
          <a:xfrm>
            <a:off x="731520" y="3794760"/>
            <a:ext cx="7680960" cy="7772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Injection has appeared in every OWASP Top 10 since 2003</a:t>
            </a:r>
            <a:pPr indent="0" marL="0">
              <a:buNone/>
            </a:pPr>
            <a:r>
              <a:rPr lang="en-US" sz="1400" dirty="0">
                <a:solidFill>
                  <a:srgbClr val="A9BADA"/>
                </a:solidFill>
                <a:latin typeface="Segoe UI" pitchFamily="34" charset="0"/>
                <a:ea typeface="Segoe UI" pitchFamily="34" charset="-122"/>
                <a:cs typeface="Segoe UI" pitchFamily="34" charset="-120"/>
              </a:rPr>
              <a:t> — and it is still one of the most common findings in real penetration tests.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ARCHITECTURE · PART 1</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Who owns the SQL?</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12</a:t>
            </a:r>
            <a:endParaRPr lang="en-US" sz="850" dirty="0"/>
          </a:p>
        </p:txBody>
      </p:sp>
      <p:sp>
        <p:nvSpPr>
          <p:cNvPr id="7" name="Text 5"/>
          <p:cNvSpPr/>
          <p:nvPr/>
        </p:nvSpPr>
        <p:spPr>
          <a:xfrm>
            <a:off x="502920" y="1298448"/>
            <a:ext cx="8138160" cy="292608"/>
          </a:xfrm>
          <a:prstGeom prst="rect">
            <a:avLst/>
          </a:prstGeom>
          <a:noFill/>
          <a:ln/>
        </p:spPr>
        <p:txBody>
          <a:bodyPr wrap="square" rtlCol="0" anchor="ctr"/>
          <a:lstStyle/>
          <a:p>
            <a:pPr indent="0" marL="0">
              <a:buNone/>
            </a:pPr>
            <a:r>
              <a:rPr lang="en-US" sz="1350" dirty="0">
                <a:solidFill>
                  <a:srgbClr val="5A6474"/>
                </a:solidFill>
                <a:latin typeface="Segoe UI" pitchFamily="34" charset="0"/>
                <a:ea typeface="Segoe UI" pitchFamily="34" charset="-122"/>
                <a:cs typeface="Segoe UI" pitchFamily="34" charset="-120"/>
              </a:rPr>
              <a:t>This is the same habit as before — but it is not JavaScript any more, and only one of the problems is injection:</a:t>
            </a:r>
            <a:endParaRPr lang="en-US" sz="1350" dirty="0"/>
          </a:p>
        </p:txBody>
      </p:sp>
      <p:sp>
        <p:nvSpPr>
          <p:cNvPr id="8" name="Shape 6"/>
          <p:cNvSpPr/>
          <p:nvPr/>
        </p:nvSpPr>
        <p:spPr>
          <a:xfrm>
            <a:off x="502920" y="1682496"/>
            <a:ext cx="8138160" cy="2057400"/>
          </a:xfrm>
          <a:prstGeom prst="roundRect">
            <a:avLst>
              <a:gd name="adj" fmla="val 2667"/>
            </a:avLst>
          </a:prstGeom>
          <a:solidFill>
            <a:srgbClr val="070B16"/>
          </a:solidFill>
          <a:ln w="12700">
            <a:solidFill>
              <a:srgbClr val="1B2540"/>
            </a:solidFill>
            <a:prstDash val="solid"/>
          </a:ln>
        </p:spPr>
      </p:sp>
      <p:sp>
        <p:nvSpPr>
          <p:cNvPr id="9" name="Text 7"/>
          <p:cNvSpPr/>
          <p:nvPr/>
        </p:nvSpPr>
        <p:spPr>
          <a:xfrm>
            <a:off x="685800" y="1810512"/>
            <a:ext cx="7772400" cy="1801368"/>
          </a:xfrm>
          <a:prstGeom prst="rect">
            <a:avLst/>
          </a:prstGeom>
          <a:noFill/>
          <a:ln/>
        </p:spPr>
        <p:txBody>
          <a:bodyPr wrap="square" rtlCol="0" anchor="t"/>
          <a:lstStyle/>
          <a:p>
            <a:pPr algn="l" indent="0" marL="0">
              <a:buNone/>
            </a:pPr>
            <a:r>
              <a:rPr lang="en-US" sz="1150" dirty="0">
                <a:solidFill>
                  <a:srgbClr val="4F5F7D"/>
                </a:solidFill>
                <a:latin typeface="Consolas" pitchFamily="34" charset="0"/>
                <a:ea typeface="Consolas" pitchFamily="34" charset="-122"/>
                <a:cs typeface="Consolas" pitchFamily="34" charset="-120"/>
              </a:rPr>
              <a:t>//  Login.aspx.cs   —   the page itself builds the SQL</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protected void btnLogin_Click(object sender, EventArgs e)</a:t>
            </a:r>
            <a:endParaRPr lang="en-US" sz="1150" dirty="0"/>
          </a:p>
          <a:p>
            <a:pPr algn="l" indent="0" marL="0">
              <a:buNone/>
            </a:pPr>
            <a:r>
              <a:rPr lang="en-US" sz="1150" dirty="0">
                <a:solidFill>
                  <a:srgbClr val="7D8CA8"/>
                </a:solidFill>
                <a:latin typeface="Consolas" pitchFamily="34" charset="0"/>
                <a:ea typeface="Consolas" pitchFamily="34" charset="-122"/>
                <a:cs typeface="Consolas" pitchFamily="34" charset="-120"/>
              </a:rPr>
              <a:t>{</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string sql = "SELECT * FROM Users WHERE "</a:t>
            </a:r>
            <a:endParaRPr lang="en-US" sz="1150" dirty="0"/>
          </a:p>
          <a:p>
            <a:pPr algn="l" indent="0" marL="0">
              <a:buNone/>
            </a:pPr>
            <a:r>
              <a:rPr lang="en-US" sz="1150" dirty="0">
                <a:solidFill>
                  <a:srgbClr val="FFD08A"/>
                </a:solidFill>
                <a:latin typeface="Consolas" pitchFamily="34" charset="0"/>
                <a:ea typeface="Consolas" pitchFamily="34" charset="-122"/>
                <a:cs typeface="Consolas" pitchFamily="34" charset="-120"/>
              </a:rPr>
              <a:t>               + "StudentNumber = '" + txtUser.Text + "' "</a:t>
            </a:r>
            <a:endParaRPr lang="en-US" sz="1150" dirty="0"/>
          </a:p>
          <a:p>
            <a:pPr algn="l" indent="0" marL="0">
              <a:buNone/>
            </a:pPr>
            <a:r>
              <a:rPr lang="en-US" sz="1150" dirty="0">
                <a:solidFill>
                  <a:srgbClr val="FFD08A"/>
                </a:solidFill>
                <a:latin typeface="Consolas" pitchFamily="34" charset="0"/>
                <a:ea typeface="Consolas" pitchFamily="34" charset="-122"/>
                <a:cs typeface="Consolas" pitchFamily="34" charset="-120"/>
              </a:rPr>
              <a:t>               + "PasswordHash  = '" + txtPass.Text + "'";</a:t>
            </a:r>
            <a:endParaRPr lang="en-US" sz="1150" dirty="0"/>
          </a:p>
          <a:p>
            <a:pPr algn="l" indent="0" marL="0">
              <a:buNone/>
            </a:pPr>
            <a:r>
              <a:rPr lang="en-US" sz="1150" dirty="0">
                <a:solidFill>
                  <a:srgbClr val="CFE0FF"/>
                </a:solidFill>
                <a:latin typeface="Consolas" pitchFamily="34" charset="0"/>
                <a:ea typeface="Consolas" pitchFamily="34" charset="-122"/>
                <a:cs typeface="Consolas" pitchFamily="34" charset="-120"/>
              </a:rPr>
              <a:t>    new SqlDataAdapter(sql, new SqlConnection(CONN))</a:t>
            </a:r>
            <a:endParaRPr lang="en-US" sz="1150" dirty="0"/>
          </a:p>
          <a:p>
            <a:pPr algn="l" indent="0" marL="0">
              <a:buNone/>
            </a:pPr>
            <a:r>
              <a:rPr lang="en-US" sz="1150" dirty="0">
                <a:solidFill>
                  <a:srgbClr val="FFC857"/>
                </a:solidFill>
                <a:latin typeface="Consolas" pitchFamily="34" charset="0"/>
                <a:ea typeface="Consolas" pitchFamily="34" charset="-122"/>
                <a:cs typeface="Consolas" pitchFamily="34" charset="-120"/>
              </a:rPr>
              <a:t>        .Fill(table);           </a:t>
            </a:r>
            <a:endParaRPr lang="en-US" sz="1150" dirty="0"/>
          </a:p>
          <a:p>
            <a:pPr algn="l" indent="0" marL="0">
              <a:buNone/>
            </a:pPr>
            <a:r>
              <a:rPr lang="en-US" sz="1150" b="1" dirty="0">
                <a:solidFill>
                  <a:srgbClr val="FF5F56"/>
                </a:solidFill>
                <a:latin typeface="Consolas" pitchFamily="34" charset="0"/>
                <a:ea typeface="Consolas" pitchFamily="34" charset="-122"/>
                <a:cs typeface="Consolas" pitchFamily="34" charset="-120"/>
              </a:rPr>
              <a:t>// ← the whole row, every column</a:t>
            </a:r>
            <a:endParaRPr lang="en-US" sz="1150" dirty="0"/>
          </a:p>
          <a:p>
            <a:pPr algn="l" indent="0" marL="0">
              <a:buNone/>
            </a:pPr>
            <a:r>
              <a:rPr lang="en-US" sz="1150" dirty="0">
                <a:solidFill>
                  <a:srgbClr val="7D8CA8"/>
                </a:solidFill>
                <a:latin typeface="Consolas" pitchFamily="34" charset="0"/>
                <a:ea typeface="Consolas" pitchFamily="34" charset="-122"/>
                <a:cs typeface="Consolas" pitchFamily="34" charset="-120"/>
              </a:rPr>
              <a:t>}</a:t>
            </a:r>
            <a:endParaRPr lang="en-US" sz="1150" dirty="0"/>
          </a:p>
        </p:txBody>
      </p:sp>
      <p:sp>
        <p:nvSpPr>
          <p:cNvPr id="10" name="Shape 8"/>
          <p:cNvSpPr/>
          <p:nvPr/>
        </p:nvSpPr>
        <p:spPr>
          <a:xfrm>
            <a:off x="502920" y="3803904"/>
            <a:ext cx="2606040" cy="914400"/>
          </a:xfrm>
          <a:prstGeom prst="roundRect">
            <a:avLst>
              <a:gd name="adj" fmla="val 5000"/>
            </a:avLst>
          </a:prstGeom>
          <a:solidFill>
            <a:srgbClr val="F5F7FA"/>
          </a:solidFill>
          <a:ln w="12700">
            <a:solidFill>
              <a:srgbClr val="E2E6EC"/>
            </a:solidFill>
            <a:prstDash val="solid"/>
          </a:ln>
        </p:spPr>
      </p:sp>
      <p:sp>
        <p:nvSpPr>
          <p:cNvPr id="11" name="Shape 9"/>
          <p:cNvSpPr/>
          <p:nvPr/>
        </p:nvSpPr>
        <p:spPr>
          <a:xfrm>
            <a:off x="502920" y="3803904"/>
            <a:ext cx="45720" cy="914400"/>
          </a:xfrm>
          <a:prstGeom prst="rect">
            <a:avLst/>
          </a:prstGeom>
          <a:solidFill>
            <a:srgbClr val="E2231A"/>
          </a:solidFill>
          <a:ln/>
        </p:spPr>
      </p:sp>
      <p:sp>
        <p:nvSpPr>
          <p:cNvPr id="12" name="Text 10"/>
          <p:cNvSpPr/>
          <p:nvPr/>
        </p:nvSpPr>
        <p:spPr>
          <a:xfrm>
            <a:off x="704088" y="3931920"/>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It knows the schema</a:t>
            </a:r>
            <a:endParaRPr lang="en-US" sz="1300" dirty="0"/>
          </a:p>
        </p:txBody>
      </p:sp>
      <p:sp>
        <p:nvSpPr>
          <p:cNvPr id="13" name="Text 11"/>
          <p:cNvSpPr/>
          <p:nvPr/>
        </p:nvSpPr>
        <p:spPr>
          <a:xfrm>
            <a:off x="704088" y="4224528"/>
            <a:ext cx="2240280" cy="3657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Table and column names are all typed into the .aspx.cs file.</a:t>
            </a:r>
            <a:endParaRPr lang="en-US" sz="1100" dirty="0"/>
          </a:p>
        </p:txBody>
      </p:sp>
      <p:sp>
        <p:nvSpPr>
          <p:cNvPr id="14" name="Shape 12"/>
          <p:cNvSpPr/>
          <p:nvPr/>
        </p:nvSpPr>
        <p:spPr>
          <a:xfrm>
            <a:off x="3291840" y="3803904"/>
            <a:ext cx="2606040" cy="914400"/>
          </a:xfrm>
          <a:prstGeom prst="roundRect">
            <a:avLst>
              <a:gd name="adj" fmla="val 5000"/>
            </a:avLst>
          </a:prstGeom>
          <a:solidFill>
            <a:srgbClr val="F5F7FA"/>
          </a:solidFill>
          <a:ln w="12700">
            <a:solidFill>
              <a:srgbClr val="E2E6EC"/>
            </a:solidFill>
            <a:prstDash val="solid"/>
          </a:ln>
        </p:spPr>
      </p:sp>
      <p:sp>
        <p:nvSpPr>
          <p:cNvPr id="15" name="Shape 13"/>
          <p:cNvSpPr/>
          <p:nvPr/>
        </p:nvSpPr>
        <p:spPr>
          <a:xfrm>
            <a:off x="3291840" y="3803904"/>
            <a:ext cx="45720" cy="914400"/>
          </a:xfrm>
          <a:prstGeom prst="rect">
            <a:avLst/>
          </a:prstGeom>
          <a:solidFill>
            <a:srgbClr val="E2231A"/>
          </a:solidFill>
          <a:ln/>
        </p:spPr>
      </p:sp>
      <p:sp>
        <p:nvSpPr>
          <p:cNvPr id="16" name="Text 14"/>
          <p:cNvSpPr/>
          <p:nvPr/>
        </p:nvSpPr>
        <p:spPr>
          <a:xfrm>
            <a:off x="3493008" y="3931920"/>
            <a:ext cx="22402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It knows where the data is</a:t>
            </a:r>
            <a:endParaRPr lang="en-US" sz="1300" dirty="0"/>
          </a:p>
        </p:txBody>
      </p:sp>
      <p:sp>
        <p:nvSpPr>
          <p:cNvPr id="17" name="Text 15"/>
          <p:cNvSpPr/>
          <p:nvPr/>
        </p:nvSpPr>
        <p:spPr>
          <a:xfrm>
            <a:off x="3493008" y="4224528"/>
            <a:ext cx="2240280" cy="3657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The connection string sits in the page config.</a:t>
            </a:r>
            <a:endParaRPr lang="en-US" sz="1100" dirty="0"/>
          </a:p>
        </p:txBody>
      </p:sp>
      <p:sp>
        <p:nvSpPr>
          <p:cNvPr id="18" name="Shape 16"/>
          <p:cNvSpPr/>
          <p:nvPr/>
        </p:nvSpPr>
        <p:spPr>
          <a:xfrm>
            <a:off x="6080760" y="3803904"/>
            <a:ext cx="2560320" cy="914400"/>
          </a:xfrm>
          <a:prstGeom prst="roundRect">
            <a:avLst>
              <a:gd name="adj" fmla="val 5000"/>
            </a:avLst>
          </a:prstGeom>
          <a:solidFill>
            <a:srgbClr val="F5F7FA"/>
          </a:solidFill>
          <a:ln w="12700">
            <a:solidFill>
              <a:srgbClr val="E2E6EC"/>
            </a:solidFill>
            <a:prstDash val="solid"/>
          </a:ln>
        </p:spPr>
      </p:sp>
      <p:sp>
        <p:nvSpPr>
          <p:cNvPr id="19" name="Shape 17"/>
          <p:cNvSpPr/>
          <p:nvPr/>
        </p:nvSpPr>
        <p:spPr>
          <a:xfrm>
            <a:off x="6080760" y="3803904"/>
            <a:ext cx="45720" cy="914400"/>
          </a:xfrm>
          <a:prstGeom prst="rect">
            <a:avLst/>
          </a:prstGeom>
          <a:solidFill>
            <a:srgbClr val="123156"/>
          </a:solidFill>
          <a:ln/>
        </p:spPr>
      </p:sp>
      <p:sp>
        <p:nvSpPr>
          <p:cNvPr id="20" name="Text 18"/>
          <p:cNvSpPr/>
          <p:nvPr/>
        </p:nvSpPr>
        <p:spPr>
          <a:xfrm>
            <a:off x="6281928" y="3931920"/>
            <a:ext cx="219456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It rebuilds the plan every click</a:t>
            </a:r>
            <a:endParaRPr lang="en-US" sz="1300" dirty="0"/>
          </a:p>
        </p:txBody>
      </p:sp>
      <p:sp>
        <p:nvSpPr>
          <p:cNvPr id="21" name="Text 19"/>
          <p:cNvSpPr/>
          <p:nvPr/>
        </p:nvSpPr>
        <p:spPr>
          <a:xfrm>
            <a:off x="6281928" y="4224528"/>
            <a:ext cx="2194560" cy="3657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A new query string each login means SQL Server plans it again.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ARCHITECTURE · PART 2</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Front end passes values. Back end owns the query.</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13</a:t>
            </a:r>
            <a:endParaRPr lang="en-US" sz="850" dirty="0"/>
          </a:p>
        </p:txBody>
      </p:sp>
      <p:sp>
        <p:nvSpPr>
          <p:cNvPr id="7" name="Text 5"/>
          <p:cNvSpPr/>
          <p:nvPr/>
        </p:nvSpPr>
        <p:spPr>
          <a:xfrm>
            <a:off x="502920" y="1280160"/>
            <a:ext cx="8138160" cy="274320"/>
          </a:xfrm>
          <a:prstGeom prst="rect">
            <a:avLst/>
          </a:prstGeom>
          <a:noFill/>
          <a:ln/>
        </p:spPr>
        <p:txBody>
          <a:bodyPr wrap="square" rtlCol="0" anchor="ctr"/>
          <a:lstStyle/>
          <a:p>
            <a:pPr indent="0" marL="0">
              <a:buNone/>
            </a:pPr>
            <a:r>
              <a:rPr lang="en-US" sz="1350" dirty="0">
                <a:solidFill>
                  <a:srgbClr val="5A6474"/>
                </a:solidFill>
                <a:latin typeface="Segoe UI" pitchFamily="34" charset="0"/>
                <a:ea typeface="Segoe UI" pitchFamily="34" charset="-122"/>
                <a:cs typeface="Segoe UI" pitchFamily="34" charset="-120"/>
              </a:rPr>
              <a:t>Three layers. Only the middle one is allowed to mention a table.</a:t>
            </a:r>
            <a:endParaRPr lang="en-US" sz="1350" dirty="0"/>
          </a:p>
        </p:txBody>
      </p:sp>
      <p:sp>
        <p:nvSpPr>
          <p:cNvPr id="8" name="Text 6"/>
          <p:cNvSpPr/>
          <p:nvPr/>
        </p:nvSpPr>
        <p:spPr>
          <a:xfrm>
            <a:off x="502920" y="1591056"/>
            <a:ext cx="2148840" cy="237744"/>
          </a:xfrm>
          <a:prstGeom prst="rect">
            <a:avLst/>
          </a:prstGeom>
          <a:noFill/>
          <a:ln/>
        </p:spPr>
        <p:txBody>
          <a:bodyPr wrap="square" rtlCol="0" anchor="ctr"/>
          <a:lstStyle/>
          <a:p>
            <a:pPr indent="0" marL="0">
              <a:buNone/>
            </a:pPr>
            <a:r>
              <a:rPr lang="en-US" sz="1000" b="1" spc="140" kern="0" dirty="0">
                <a:solidFill>
                  <a:srgbClr val="5A6474"/>
                </a:solidFill>
                <a:latin typeface="Segoe UI" pitchFamily="34" charset="0"/>
                <a:ea typeface="Segoe UI" pitchFamily="34" charset="-122"/>
                <a:cs typeface="Segoe UI" pitchFamily="34" charset="-120"/>
              </a:rPr>
              <a:t>1 · FRONT END</a:t>
            </a:r>
            <a:endParaRPr lang="en-US" sz="1000" dirty="0"/>
          </a:p>
        </p:txBody>
      </p:sp>
      <p:sp>
        <p:nvSpPr>
          <p:cNvPr id="9" name="Text 7"/>
          <p:cNvSpPr/>
          <p:nvPr/>
        </p:nvSpPr>
        <p:spPr>
          <a:xfrm>
            <a:off x="3154680" y="1591056"/>
            <a:ext cx="2788920" cy="237744"/>
          </a:xfrm>
          <a:prstGeom prst="rect">
            <a:avLst/>
          </a:prstGeom>
          <a:noFill/>
          <a:ln/>
        </p:spPr>
        <p:txBody>
          <a:bodyPr wrap="square" rtlCol="0" anchor="ctr"/>
          <a:lstStyle/>
          <a:p>
            <a:pPr indent="0" marL="0">
              <a:buNone/>
            </a:pPr>
            <a:r>
              <a:rPr lang="en-US" sz="1000" b="1" spc="140" kern="0" dirty="0">
                <a:solidFill>
                  <a:srgbClr val="E2231A"/>
                </a:solidFill>
                <a:latin typeface="Segoe UI" pitchFamily="34" charset="0"/>
                <a:ea typeface="Segoe UI" pitchFamily="34" charset="-122"/>
                <a:cs typeface="Segoe UI" pitchFamily="34" charset="-120"/>
              </a:rPr>
              <a:t>2 · BACK END  (C#)</a:t>
            </a:r>
            <a:endParaRPr lang="en-US" sz="1000" dirty="0"/>
          </a:p>
        </p:txBody>
      </p:sp>
      <p:sp>
        <p:nvSpPr>
          <p:cNvPr id="10" name="Text 8"/>
          <p:cNvSpPr/>
          <p:nvPr/>
        </p:nvSpPr>
        <p:spPr>
          <a:xfrm>
            <a:off x="6400800" y="1591056"/>
            <a:ext cx="2240280" cy="237744"/>
          </a:xfrm>
          <a:prstGeom prst="rect">
            <a:avLst/>
          </a:prstGeom>
          <a:noFill/>
          <a:ln/>
        </p:spPr>
        <p:txBody>
          <a:bodyPr wrap="square" rtlCol="0" anchor="ctr"/>
          <a:lstStyle/>
          <a:p>
            <a:pPr indent="0" marL="0">
              <a:buNone/>
            </a:pPr>
            <a:r>
              <a:rPr lang="en-US" sz="1000" b="1" spc="140" kern="0" dirty="0">
                <a:solidFill>
                  <a:srgbClr val="1E9E5A"/>
                </a:solidFill>
                <a:latin typeface="Segoe UI" pitchFamily="34" charset="0"/>
                <a:ea typeface="Segoe UI" pitchFamily="34" charset="-122"/>
                <a:cs typeface="Segoe UI" pitchFamily="34" charset="-120"/>
              </a:rPr>
              <a:t>3 · DATABASE  (SSMS)</a:t>
            </a:r>
            <a:endParaRPr lang="en-US" sz="1000" dirty="0"/>
          </a:p>
        </p:txBody>
      </p:sp>
      <p:sp>
        <p:nvSpPr>
          <p:cNvPr id="11" name="Shape 9"/>
          <p:cNvSpPr/>
          <p:nvPr/>
        </p:nvSpPr>
        <p:spPr>
          <a:xfrm>
            <a:off x="502920" y="1847088"/>
            <a:ext cx="2514600" cy="2130552"/>
          </a:xfrm>
          <a:prstGeom prst="roundRect">
            <a:avLst>
              <a:gd name="adj" fmla="val 2575"/>
            </a:avLst>
          </a:prstGeom>
          <a:solidFill>
            <a:srgbClr val="070B16"/>
          </a:solidFill>
          <a:ln w="12700">
            <a:solidFill>
              <a:srgbClr val="1B2540"/>
            </a:solidFill>
            <a:prstDash val="solid"/>
          </a:ln>
        </p:spPr>
      </p:sp>
      <p:sp>
        <p:nvSpPr>
          <p:cNvPr id="12" name="Text 10"/>
          <p:cNvSpPr/>
          <p:nvPr/>
        </p:nvSpPr>
        <p:spPr>
          <a:xfrm>
            <a:off x="685800" y="1975104"/>
            <a:ext cx="2148840" cy="1874520"/>
          </a:xfrm>
          <a:prstGeom prst="rect">
            <a:avLst/>
          </a:prstGeom>
          <a:noFill/>
          <a:ln/>
        </p:spPr>
        <p:txBody>
          <a:bodyPr wrap="square" rtlCol="0" anchor="t"/>
          <a:lstStyle/>
          <a:p>
            <a:pPr algn="l" indent="0" marL="0">
              <a:buNone/>
            </a:pPr>
            <a:r>
              <a:rPr lang="en-US" sz="900" dirty="0">
                <a:solidFill>
                  <a:srgbClr val="4F5F7D"/>
                </a:solidFill>
                <a:latin typeface="Consolas" pitchFamily="34" charset="0"/>
                <a:ea typeface="Consolas" pitchFamily="34" charset="-122"/>
                <a:cs typeface="Consolas" pitchFamily="34" charset="-120"/>
              </a:rPr>
              <a:t>// Login.aspx.cs</a:t>
            </a:r>
            <a:endParaRPr lang="en-US" sz="900" dirty="0"/>
          </a:p>
          <a:p>
            <a:pPr algn="l" indent="0" marL="0">
              <a:buNone/>
            </a:pPr>
            <a:r>
              <a:rPr lang="en-US" sz="900" dirty="0">
                <a:solidFill>
                  <a:srgbClr val="4F5F7D"/>
                </a:solidFill>
                <a:latin typeface="Consolas" pitchFamily="34" charset="0"/>
                <a:ea typeface="Consolas" pitchFamily="34" charset="-122"/>
                <a:cs typeface="Consolas" pitchFamily="34" charset="-120"/>
              </a:rPr>
              <a:t>// the page sees two</a:t>
            </a:r>
            <a:endParaRPr lang="en-US" sz="900" dirty="0"/>
          </a:p>
          <a:p>
            <a:pPr algn="l" indent="0" marL="0">
              <a:buNone/>
            </a:pPr>
            <a:r>
              <a:rPr lang="en-US" sz="900" dirty="0">
                <a:solidFill>
                  <a:srgbClr val="4F5F7D"/>
                </a:solidFill>
                <a:latin typeface="Consolas" pitchFamily="34" charset="0"/>
                <a:ea typeface="Consolas" pitchFamily="34" charset="-122"/>
                <a:cs typeface="Consolas" pitchFamily="34" charset="-120"/>
              </a:rPr>
              <a:t>// strings — no table,</a:t>
            </a:r>
            <a:endParaRPr lang="en-US" sz="900" dirty="0"/>
          </a:p>
          <a:p>
            <a:pPr algn="l" indent="0" marL="0">
              <a:buNone/>
            </a:pPr>
            <a:r>
              <a:rPr lang="en-US" sz="900" dirty="0">
                <a:solidFill>
                  <a:srgbClr val="4F5F7D"/>
                </a:solidFill>
                <a:latin typeface="Consolas" pitchFamily="34" charset="0"/>
                <a:ea typeface="Consolas" pitchFamily="34" charset="-122"/>
                <a:cs typeface="Consolas" pitchFamily="34" charset="-120"/>
              </a:rPr>
              <a:t>// no columns, no SQL,</a:t>
            </a:r>
            <a:endParaRPr lang="en-US" sz="900" dirty="0"/>
          </a:p>
          <a:p>
            <a:pPr algn="l" indent="0" marL="0">
              <a:buNone/>
            </a:pPr>
            <a:r>
              <a:rPr lang="en-US" sz="900" dirty="0">
                <a:solidFill>
                  <a:srgbClr val="4F5F7D"/>
                </a:solidFill>
                <a:latin typeface="Consolas" pitchFamily="34" charset="0"/>
                <a:ea typeface="Consolas" pitchFamily="34" charset="-122"/>
                <a:cs typeface="Consolas" pitchFamily="34" charset="-120"/>
              </a:rPr>
              <a:t>// no connection string</a:t>
            </a:r>
            <a:endParaRPr lang="en-US" sz="900" dirty="0"/>
          </a:p>
          <a:p>
            <a:pPr algn="l" indent="0" marL="0">
              <a:buNone/>
            </a:pPr>
            <a:endParaRPr lang="en-US" sz="900" dirty="0"/>
          </a:p>
          <a:p>
            <a:pPr algn="l" indent="0" marL="0">
              <a:buNone/>
            </a:pPr>
            <a:r>
              <a:rPr lang="en-US" sz="900" dirty="0">
                <a:solidFill>
                  <a:srgbClr val="CFE0FF"/>
                </a:solidFill>
                <a:latin typeface="Consolas" pitchFamily="34" charset="0"/>
                <a:ea typeface="Consolas" pitchFamily="34" charset="-122"/>
                <a:cs typeface="Consolas" pitchFamily="34" charset="-120"/>
              </a:rPr>
              <a:t>bool ok = AccountDal</a:t>
            </a:r>
            <a:endParaRPr lang="en-US" sz="900" dirty="0"/>
          </a:p>
          <a:p>
            <a:pPr algn="l" indent="0" marL="0">
              <a:buNone/>
            </a:pPr>
            <a:r>
              <a:rPr lang="en-US" sz="900" dirty="0">
                <a:solidFill>
                  <a:srgbClr val="CFE0FF"/>
                </a:solidFill>
                <a:latin typeface="Consolas" pitchFamily="34" charset="0"/>
                <a:ea typeface="Consolas" pitchFamily="34" charset="-122"/>
                <a:cs typeface="Consolas" pitchFamily="34" charset="-120"/>
              </a:rPr>
              <a:t>    .Login(txtUser.Text,</a:t>
            </a:r>
            <a:endParaRPr lang="en-US" sz="900" dirty="0"/>
          </a:p>
          <a:p>
            <a:pPr algn="l" indent="0" marL="0">
              <a:buNone/>
            </a:pPr>
            <a:r>
              <a:rPr lang="en-US" sz="900" dirty="0">
                <a:solidFill>
                  <a:srgbClr val="CFE0FF"/>
                </a:solidFill>
                <a:latin typeface="Consolas" pitchFamily="34" charset="0"/>
                <a:ea typeface="Consolas" pitchFamily="34" charset="-122"/>
                <a:cs typeface="Consolas" pitchFamily="34" charset="-120"/>
              </a:rPr>
              <a:t>           txtPass.Text);</a:t>
            </a:r>
            <a:endParaRPr lang="en-US" sz="900" dirty="0"/>
          </a:p>
        </p:txBody>
      </p:sp>
      <p:sp>
        <p:nvSpPr>
          <p:cNvPr id="13" name="Shape 11"/>
          <p:cNvSpPr/>
          <p:nvPr/>
        </p:nvSpPr>
        <p:spPr>
          <a:xfrm>
            <a:off x="3154680" y="1847088"/>
            <a:ext cx="3154680" cy="2130552"/>
          </a:xfrm>
          <a:prstGeom prst="roundRect">
            <a:avLst>
              <a:gd name="adj" fmla="val 2575"/>
            </a:avLst>
          </a:prstGeom>
          <a:solidFill>
            <a:srgbClr val="070B16"/>
          </a:solidFill>
          <a:ln w="12700">
            <a:solidFill>
              <a:srgbClr val="1B2540"/>
            </a:solidFill>
            <a:prstDash val="solid"/>
          </a:ln>
        </p:spPr>
      </p:sp>
      <p:sp>
        <p:nvSpPr>
          <p:cNvPr id="14" name="Text 12"/>
          <p:cNvSpPr/>
          <p:nvPr/>
        </p:nvSpPr>
        <p:spPr>
          <a:xfrm>
            <a:off x="3337560" y="1975104"/>
            <a:ext cx="2788920" cy="1874520"/>
          </a:xfrm>
          <a:prstGeom prst="rect">
            <a:avLst/>
          </a:prstGeom>
          <a:noFill/>
          <a:ln/>
        </p:spPr>
        <p:txBody>
          <a:bodyPr wrap="square" rtlCol="0" anchor="t"/>
          <a:lstStyle/>
          <a:p>
            <a:pPr algn="l" indent="0" marL="0">
              <a:buNone/>
            </a:pPr>
            <a:r>
              <a:rPr lang="en-US" sz="850" dirty="0">
                <a:solidFill>
                  <a:srgbClr val="4F5F7D"/>
                </a:solidFill>
                <a:latin typeface="Consolas" pitchFamily="34" charset="0"/>
                <a:ea typeface="Consolas" pitchFamily="34" charset="-122"/>
                <a:cs typeface="Consolas" pitchFamily="34" charset="-120"/>
              </a:rPr>
              <a:t>// AccountDal.cs — only</a:t>
            </a:r>
            <a:endParaRPr lang="en-US" sz="850" dirty="0"/>
          </a:p>
          <a:p>
            <a:pPr algn="l" indent="0" marL="0">
              <a:buNone/>
            </a:pPr>
            <a:r>
              <a:rPr lang="en-US" sz="850" dirty="0">
                <a:solidFill>
                  <a:srgbClr val="4F5F7D"/>
                </a:solidFill>
                <a:latin typeface="Consolas" pitchFamily="34" charset="0"/>
                <a:ea typeface="Consolas" pitchFamily="34" charset="-122"/>
                <a:cs typeface="Consolas" pitchFamily="34" charset="-120"/>
              </a:rPr>
              <a:t>// this file names a table</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string sql =</a:t>
            </a:r>
            <a:endParaRPr lang="en-US" sz="850" dirty="0"/>
          </a:p>
          <a:p>
            <a:pPr algn="l" indent="0" marL="0">
              <a:buNone/>
            </a:pPr>
            <a:r>
              <a:rPr lang="en-US" sz="850" dirty="0">
                <a:solidFill>
                  <a:srgbClr val="9DE8BC"/>
                </a:solidFill>
                <a:latin typeface="Consolas" pitchFamily="34" charset="0"/>
                <a:ea typeface="Consolas" pitchFamily="34" charset="-122"/>
                <a:cs typeface="Consolas" pitchFamily="34" charset="-120"/>
              </a:rPr>
              <a:t>  "SELECT 1 FROM dbo.Users"</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 " WHERE StudentNumber = @sn"</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 "   AND PasswordHash = @ph;";</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using var cmd =</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new SqlCommand(sql, con);</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cmd.Parameters.Add("@sn",</a:t>
            </a:r>
            <a:endParaRPr lang="en-US" sz="850" dirty="0"/>
          </a:p>
          <a:p>
            <a:pPr algn="l" indent="0" marL="0">
              <a:buNone/>
            </a:pPr>
            <a:r>
              <a:rPr lang="en-US" sz="850" dirty="0">
                <a:solidFill>
                  <a:srgbClr val="FFC857"/>
                </a:solidFill>
                <a:latin typeface="Consolas" pitchFamily="34" charset="0"/>
                <a:ea typeface="Consolas" pitchFamily="34" charset="-122"/>
                <a:cs typeface="Consolas" pitchFamily="34" charset="-120"/>
              </a:rPr>
              <a:t>  SqlDbType.NVarChar, 20).Value = sn;</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cmd.Parameters.Add("@ph",</a:t>
            </a:r>
            <a:endParaRPr lang="en-US" sz="850" dirty="0"/>
          </a:p>
          <a:p>
            <a:pPr algn="l" indent="0" marL="0">
              <a:buNone/>
            </a:pPr>
            <a:r>
              <a:rPr lang="en-US" sz="850" dirty="0">
                <a:solidFill>
                  <a:srgbClr val="FFC857"/>
                </a:solidFill>
                <a:latin typeface="Consolas" pitchFamily="34" charset="0"/>
                <a:ea typeface="Consolas" pitchFamily="34" charset="-122"/>
                <a:cs typeface="Consolas" pitchFamily="34" charset="-120"/>
              </a:rPr>
              <a:t>  SqlDbType.VarBinary, 64)</a:t>
            </a:r>
            <a:endParaRPr lang="en-US" sz="850" dirty="0"/>
          </a:p>
          <a:p>
            <a:pPr algn="l" indent="0" marL="0">
              <a:buNone/>
            </a:pPr>
            <a:r>
              <a:rPr lang="en-US" sz="850" dirty="0">
                <a:solidFill>
                  <a:srgbClr val="FFC857"/>
                </a:solidFill>
                <a:latin typeface="Consolas" pitchFamily="34" charset="0"/>
                <a:ea typeface="Consolas" pitchFamily="34" charset="-122"/>
                <a:cs typeface="Consolas" pitchFamily="34" charset="-120"/>
              </a:rPr>
              <a:t>    .Value = Hash(pw);</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return cmd.ExecuteScalar() != null;</a:t>
            </a:r>
            <a:endParaRPr lang="en-US" sz="850" dirty="0"/>
          </a:p>
        </p:txBody>
      </p:sp>
      <p:sp>
        <p:nvSpPr>
          <p:cNvPr id="15" name="Shape 13"/>
          <p:cNvSpPr/>
          <p:nvPr/>
        </p:nvSpPr>
        <p:spPr>
          <a:xfrm>
            <a:off x="6400800" y="1847088"/>
            <a:ext cx="2240280" cy="2130552"/>
          </a:xfrm>
          <a:prstGeom prst="roundRect">
            <a:avLst>
              <a:gd name="adj" fmla="val 2575"/>
            </a:avLst>
          </a:prstGeom>
          <a:solidFill>
            <a:srgbClr val="070B16"/>
          </a:solidFill>
          <a:ln w="12700">
            <a:solidFill>
              <a:srgbClr val="1B2540"/>
            </a:solidFill>
            <a:prstDash val="solid"/>
          </a:ln>
        </p:spPr>
      </p:sp>
      <p:sp>
        <p:nvSpPr>
          <p:cNvPr id="16" name="Text 14"/>
          <p:cNvSpPr/>
          <p:nvPr/>
        </p:nvSpPr>
        <p:spPr>
          <a:xfrm>
            <a:off x="6583680" y="1975104"/>
            <a:ext cx="1874520" cy="1874520"/>
          </a:xfrm>
          <a:prstGeom prst="rect">
            <a:avLst/>
          </a:prstGeom>
          <a:noFill/>
          <a:ln/>
        </p:spPr>
        <p:txBody>
          <a:bodyPr wrap="square" rtlCol="0" anchor="t"/>
          <a:lstStyle/>
          <a:p>
            <a:pPr algn="l" indent="0" marL="0">
              <a:buNone/>
            </a:pPr>
            <a:r>
              <a:rPr lang="en-US" sz="850" dirty="0">
                <a:solidFill>
                  <a:srgbClr val="4F5F7D"/>
                </a:solidFill>
                <a:latin typeface="Consolas" pitchFamily="34" charset="0"/>
                <a:ea typeface="Consolas" pitchFamily="34" charset="-122"/>
                <a:cs typeface="Consolas" pitchFamily="34" charset="-120"/>
              </a:rPr>
              <a:t>-- SSMS · JISSA_DB</a:t>
            </a:r>
            <a:endParaRPr lang="en-US" sz="850" dirty="0"/>
          </a:p>
          <a:p>
            <a:pPr algn="l" indent="0" marL="0">
              <a:buNone/>
            </a:pPr>
            <a:r>
              <a:rPr lang="en-US" sz="850" dirty="0">
                <a:solidFill>
                  <a:srgbClr val="9DE8BC"/>
                </a:solidFill>
                <a:latin typeface="Consolas" pitchFamily="34" charset="0"/>
                <a:ea typeface="Consolas" pitchFamily="34" charset="-122"/>
                <a:cs typeface="Consolas" pitchFamily="34" charset="-120"/>
              </a:rPr>
              <a:t>CREATE TABLE dbo.Users (</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Id int identity</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primary key,</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StudentNumber</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nvarchar(20) unique,</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PasswordHash</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varbinary(64),</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FullName nvarchar(100),</a:t>
            </a:r>
            <a:endParaRPr lang="en-US" sz="850" dirty="0"/>
          </a:p>
          <a:p>
            <a:pPr algn="l" indent="0" marL="0">
              <a:buNone/>
            </a:pPr>
            <a:r>
              <a:rPr lang="en-US" sz="850" dirty="0">
                <a:solidFill>
                  <a:srgbClr val="CFE0FF"/>
                </a:solidFill>
                <a:latin typeface="Consolas" pitchFamily="34" charset="0"/>
                <a:ea typeface="Consolas" pitchFamily="34" charset="-122"/>
                <a:cs typeface="Consolas" pitchFamily="34" charset="-120"/>
              </a:rPr>
              <a:t>  IsActive bit</a:t>
            </a:r>
            <a:endParaRPr lang="en-US" sz="850" dirty="0"/>
          </a:p>
          <a:p>
            <a:pPr algn="l" indent="0" marL="0">
              <a:buNone/>
            </a:pPr>
            <a:r>
              <a:rPr lang="en-US" sz="850" dirty="0">
                <a:solidFill>
                  <a:srgbClr val="7D8CA8"/>
                </a:solidFill>
                <a:latin typeface="Consolas" pitchFamily="34" charset="0"/>
                <a:ea typeface="Consolas" pitchFamily="34" charset="-122"/>
                <a:cs typeface="Consolas" pitchFamily="34" charset="-120"/>
              </a:rPr>
              <a:t>);</a:t>
            </a:r>
            <a:endParaRPr lang="en-US" sz="850" dirty="0"/>
          </a:p>
        </p:txBody>
      </p:sp>
      <p:sp>
        <p:nvSpPr>
          <p:cNvPr id="17" name="Shape 15"/>
          <p:cNvSpPr/>
          <p:nvPr/>
        </p:nvSpPr>
        <p:spPr>
          <a:xfrm>
            <a:off x="502920" y="4096512"/>
            <a:ext cx="8138160" cy="658368"/>
          </a:xfrm>
          <a:prstGeom prst="roundRect">
            <a:avLst>
              <a:gd name="adj" fmla="val 8333"/>
            </a:avLst>
          </a:prstGeom>
          <a:solidFill>
            <a:srgbClr val="0A1D38"/>
          </a:solidFill>
          <a:ln/>
        </p:spPr>
      </p:sp>
      <p:sp>
        <p:nvSpPr>
          <p:cNvPr id="18" name="Text 16"/>
          <p:cNvSpPr/>
          <p:nvPr/>
        </p:nvSpPr>
        <p:spPr>
          <a:xfrm>
            <a:off x="731520" y="4096512"/>
            <a:ext cx="7680960" cy="658368"/>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Parameterised is faster as well as safer.  </a:t>
            </a:r>
            <a:pPr indent="0" marL="0">
              <a:buNone/>
            </a:pPr>
            <a:r>
              <a:rPr lang="en-US" sz="1250" dirty="0">
                <a:solidFill>
                  <a:srgbClr val="A9BADA"/>
                </a:solidFill>
                <a:latin typeface="Segoe UI" pitchFamily="34" charset="0"/>
                <a:ea typeface="Segoe UI" pitchFamily="34" charset="-122"/>
                <a:cs typeface="Segoe UI" pitchFamily="34" charset="-120"/>
              </a:rPr>
              <a:t>The SQL text never changes, so the server plans it once and reuses the plan — and the page source contains no table or column name at all.</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THE FIX</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1B1B1B"/>
                </a:solidFill>
                <a:latin typeface="Segoe UI" pitchFamily="34" charset="0"/>
                <a:ea typeface="Segoe UI" pitchFamily="34" charset="-122"/>
                <a:cs typeface="Segoe UI" pitchFamily="34" charset="-120"/>
              </a:rPr>
              <a:t>Parameterised queries — one line of code</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A3ABB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A3ABB8"/>
                </a:solidFill>
                <a:latin typeface="Segoe UI" pitchFamily="34" charset="0"/>
                <a:ea typeface="Segoe UI" pitchFamily="34" charset="-122"/>
                <a:cs typeface="Segoe UI" pitchFamily="34" charset="-120"/>
              </a:rPr>
              <a:t>14</a:t>
            </a:r>
            <a:endParaRPr lang="en-US" sz="850" dirty="0"/>
          </a:p>
        </p:txBody>
      </p:sp>
      <p:sp>
        <p:nvSpPr>
          <p:cNvPr id="7" name="Shape 5"/>
          <p:cNvSpPr/>
          <p:nvPr/>
        </p:nvSpPr>
        <p:spPr>
          <a:xfrm>
            <a:off x="502920" y="1463040"/>
            <a:ext cx="3977640" cy="1783080"/>
          </a:xfrm>
          <a:prstGeom prst="roundRect">
            <a:avLst>
              <a:gd name="adj" fmla="val 3077"/>
            </a:avLst>
          </a:prstGeom>
          <a:solidFill>
            <a:srgbClr val="FDEDEC"/>
          </a:solidFill>
          <a:ln w="12700">
            <a:solidFill>
              <a:srgbClr val="F0B7B2"/>
            </a:solidFill>
            <a:prstDash val="solid"/>
          </a:ln>
        </p:spPr>
      </p:sp>
      <p:sp>
        <p:nvSpPr>
          <p:cNvPr id="8" name="Text 6"/>
          <p:cNvSpPr/>
          <p:nvPr/>
        </p:nvSpPr>
        <p:spPr>
          <a:xfrm>
            <a:off x="685800" y="1572768"/>
            <a:ext cx="3657600" cy="274320"/>
          </a:xfrm>
          <a:prstGeom prst="rect">
            <a:avLst/>
          </a:prstGeom>
          <a:noFill/>
          <a:ln/>
        </p:spPr>
        <p:txBody>
          <a:bodyPr wrap="square" rtlCol="0" anchor="ctr"/>
          <a:lstStyle/>
          <a:p>
            <a:pPr indent="0" marL="0">
              <a:buNone/>
            </a:pPr>
            <a:r>
              <a:rPr lang="en-US" sz="1150" b="1" dirty="0">
                <a:solidFill>
                  <a:srgbClr val="9B1C14"/>
                </a:solidFill>
                <a:latin typeface="Segoe UI" pitchFamily="34" charset="0"/>
                <a:ea typeface="Segoe UI" pitchFamily="34" charset="-122"/>
                <a:cs typeface="Segoe UI" pitchFamily="34" charset="-120"/>
              </a:rPr>
              <a:t>✗  VULNERABLE — paste input into the query</a:t>
            </a:r>
            <a:endParaRPr lang="en-US" sz="1150" dirty="0"/>
          </a:p>
        </p:txBody>
      </p:sp>
      <p:sp>
        <p:nvSpPr>
          <p:cNvPr id="9" name="Text 7"/>
          <p:cNvSpPr/>
          <p:nvPr/>
        </p:nvSpPr>
        <p:spPr>
          <a:xfrm>
            <a:off x="685800" y="1874520"/>
            <a:ext cx="3657600" cy="1234440"/>
          </a:xfrm>
          <a:prstGeom prst="rect">
            <a:avLst/>
          </a:prstGeom>
          <a:noFill/>
          <a:ln/>
        </p:spPr>
        <p:txBody>
          <a:bodyPr wrap="square" rtlCol="0" anchor="t"/>
          <a:lstStyle/>
          <a:p>
            <a:pPr indent="0" marL="0">
              <a:buNone/>
            </a:pPr>
            <a:r>
              <a:rPr lang="en-US" sz="1150" dirty="0">
                <a:solidFill>
                  <a:srgbClr val="6B2019"/>
                </a:solidFill>
                <a:latin typeface="Consolas" pitchFamily="34" charset="0"/>
                <a:ea typeface="Consolas" pitchFamily="34" charset="-122"/>
                <a:cs typeface="Consolas" pitchFamily="34" charset="-120"/>
              </a:rPr>
              <a:t>const q = `SELECT * FROM users</a:t>
            </a:r>
            <a:endParaRPr lang="en-US" sz="1150" dirty="0"/>
          </a:p>
          <a:p>
            <a:pPr indent="0" marL="0">
              <a:buNone/>
            </a:pPr>
            <a:r>
              <a:rPr lang="en-US" sz="1150" dirty="0">
                <a:solidFill>
                  <a:srgbClr val="6B2019"/>
                </a:solidFill>
                <a:latin typeface="Consolas" pitchFamily="34" charset="0"/>
                <a:ea typeface="Consolas" pitchFamily="34" charset="-122"/>
                <a:cs typeface="Consolas" pitchFamily="34" charset="-120"/>
              </a:rPr>
              <a:t>  WHERE sn = '${user}'</a:t>
            </a:r>
            <a:endParaRPr lang="en-US" sz="1150" dirty="0"/>
          </a:p>
          <a:p>
            <a:pPr indent="0" marL="0">
              <a:buNone/>
            </a:pPr>
            <a:r>
              <a:rPr lang="en-US" sz="1150" dirty="0">
                <a:solidFill>
                  <a:srgbClr val="6B2019"/>
                </a:solidFill>
                <a:latin typeface="Consolas" pitchFamily="34" charset="0"/>
                <a:ea typeface="Consolas" pitchFamily="34" charset="-122"/>
                <a:cs typeface="Consolas" pitchFamily="34" charset="-120"/>
              </a:rPr>
              <a:t>    AND pw = '${pass}'`;</a:t>
            </a:r>
            <a:endParaRPr lang="en-US" sz="1150" dirty="0"/>
          </a:p>
          <a:p>
            <a:pPr indent="0" marL="0">
              <a:buNone/>
            </a:pPr>
            <a:r>
              <a:rPr lang="en-US" sz="1150" dirty="0">
                <a:solidFill>
                  <a:srgbClr val="6B2019"/>
                </a:solidFill>
                <a:latin typeface="Consolas" pitchFamily="34" charset="0"/>
                <a:ea typeface="Consolas" pitchFamily="34" charset="-122"/>
                <a:cs typeface="Consolas" pitchFamily="34" charset="-120"/>
              </a:rPr>
              <a:t>db.query(q);</a:t>
            </a:r>
            <a:endParaRPr lang="en-US" sz="1150" dirty="0"/>
          </a:p>
        </p:txBody>
      </p:sp>
      <p:sp>
        <p:nvSpPr>
          <p:cNvPr id="10" name="Shape 8"/>
          <p:cNvSpPr/>
          <p:nvPr/>
        </p:nvSpPr>
        <p:spPr>
          <a:xfrm>
            <a:off x="4663440" y="1463040"/>
            <a:ext cx="3977640" cy="1783080"/>
          </a:xfrm>
          <a:prstGeom prst="roundRect">
            <a:avLst>
              <a:gd name="adj" fmla="val 3077"/>
            </a:avLst>
          </a:prstGeom>
          <a:solidFill>
            <a:srgbClr val="EAF7F0"/>
          </a:solidFill>
          <a:ln w="12700">
            <a:solidFill>
              <a:srgbClr val="A9DCC3"/>
            </a:solidFill>
            <a:prstDash val="solid"/>
          </a:ln>
        </p:spPr>
      </p:sp>
      <p:sp>
        <p:nvSpPr>
          <p:cNvPr id="11" name="Text 9"/>
          <p:cNvSpPr/>
          <p:nvPr/>
        </p:nvSpPr>
        <p:spPr>
          <a:xfrm>
            <a:off x="4846320" y="1572768"/>
            <a:ext cx="3657600" cy="274320"/>
          </a:xfrm>
          <a:prstGeom prst="rect">
            <a:avLst/>
          </a:prstGeom>
          <a:noFill/>
          <a:ln/>
        </p:spPr>
        <p:txBody>
          <a:bodyPr wrap="square" rtlCol="0" anchor="ctr"/>
          <a:lstStyle/>
          <a:p>
            <a:pPr indent="0" marL="0">
              <a:buNone/>
            </a:pPr>
            <a:r>
              <a:rPr lang="en-US" sz="1150" b="1" dirty="0">
                <a:solidFill>
                  <a:srgbClr val="146C40"/>
                </a:solidFill>
                <a:latin typeface="Segoe UI" pitchFamily="34" charset="0"/>
                <a:ea typeface="Segoe UI" pitchFamily="34" charset="-122"/>
                <a:cs typeface="Segoe UI" pitchFamily="34" charset="-120"/>
              </a:rPr>
              <a:t>✓  SAFE — bind the values as data</a:t>
            </a:r>
            <a:endParaRPr lang="en-US" sz="1150" dirty="0"/>
          </a:p>
        </p:txBody>
      </p:sp>
      <p:sp>
        <p:nvSpPr>
          <p:cNvPr id="12" name="Text 10"/>
          <p:cNvSpPr/>
          <p:nvPr/>
        </p:nvSpPr>
        <p:spPr>
          <a:xfrm>
            <a:off x="4846320" y="1874520"/>
            <a:ext cx="3657600" cy="1234440"/>
          </a:xfrm>
          <a:prstGeom prst="rect">
            <a:avLst/>
          </a:prstGeom>
          <a:noFill/>
          <a:ln/>
        </p:spPr>
        <p:txBody>
          <a:bodyPr wrap="square" rtlCol="0" anchor="t"/>
          <a:lstStyle/>
          <a:p>
            <a:pPr indent="0" marL="0">
              <a:buNone/>
            </a:pPr>
            <a:r>
              <a:rPr lang="en-US" sz="1150" dirty="0">
                <a:solidFill>
                  <a:srgbClr val="146C40"/>
                </a:solidFill>
                <a:latin typeface="Consolas" pitchFamily="34" charset="0"/>
                <a:ea typeface="Consolas" pitchFamily="34" charset="-122"/>
                <a:cs typeface="Consolas" pitchFamily="34" charset="-120"/>
              </a:rPr>
              <a:t>const row = db.prepare(</a:t>
            </a:r>
            <a:endParaRPr lang="en-US" sz="1150" dirty="0"/>
          </a:p>
          <a:p>
            <a:pPr indent="0" marL="0">
              <a:buNone/>
            </a:pPr>
            <a:r>
              <a:rPr lang="en-US" sz="1150" dirty="0">
                <a:solidFill>
                  <a:srgbClr val="146C40"/>
                </a:solidFill>
                <a:latin typeface="Consolas" pitchFamily="34" charset="0"/>
                <a:ea typeface="Consolas" pitchFamily="34" charset="-122"/>
                <a:cs typeface="Consolas" pitchFamily="34" charset="-120"/>
              </a:rPr>
              <a:t>  'SELECT * FROM users</a:t>
            </a:r>
            <a:endParaRPr lang="en-US" sz="1150" dirty="0"/>
          </a:p>
          <a:p>
            <a:pPr indent="0" marL="0">
              <a:buNone/>
            </a:pPr>
            <a:r>
              <a:rPr lang="en-US" sz="1150" dirty="0">
                <a:solidFill>
                  <a:srgbClr val="146C40"/>
                </a:solidFill>
                <a:latin typeface="Consolas" pitchFamily="34" charset="0"/>
                <a:ea typeface="Consolas" pitchFamily="34" charset="-122"/>
                <a:cs typeface="Consolas" pitchFamily="34" charset="-120"/>
              </a:rPr>
              <a:t>   WHERE sn = ? AND pw = ?'</a:t>
            </a:r>
            <a:endParaRPr lang="en-US" sz="1150" dirty="0"/>
          </a:p>
          <a:p>
            <a:pPr indent="0" marL="0">
              <a:buNone/>
            </a:pPr>
            <a:r>
              <a:rPr lang="en-US" sz="1150" dirty="0">
                <a:solidFill>
                  <a:srgbClr val="146C40"/>
                </a:solidFill>
                <a:latin typeface="Consolas" pitchFamily="34" charset="0"/>
                <a:ea typeface="Consolas" pitchFamily="34" charset="-122"/>
                <a:cs typeface="Consolas" pitchFamily="34" charset="-120"/>
              </a:rPr>
              <a:t>).get(user, pass);</a:t>
            </a:r>
            <a:endParaRPr lang="en-US" sz="1150" dirty="0"/>
          </a:p>
        </p:txBody>
      </p:sp>
      <p:sp>
        <p:nvSpPr>
          <p:cNvPr id="13" name="Text 11"/>
          <p:cNvSpPr/>
          <p:nvPr/>
        </p:nvSpPr>
        <p:spPr>
          <a:xfrm>
            <a:off x="502920" y="3364992"/>
            <a:ext cx="8138160" cy="329184"/>
          </a:xfrm>
          <a:prstGeom prst="rect">
            <a:avLst/>
          </a:prstGeom>
          <a:noFill/>
          <a:ln/>
        </p:spPr>
        <p:txBody>
          <a:bodyPr wrap="square" rtlCol="0" anchor="ctr"/>
          <a:lstStyle/>
          <a:p>
            <a:pPr indent="0" marL="0">
              <a:buNone/>
            </a:pPr>
            <a:r>
              <a:rPr lang="en-US" sz="1350" b="1" dirty="0">
                <a:solidFill>
                  <a:srgbClr val="1B1B1B"/>
                </a:solidFill>
                <a:latin typeface="Segoe UI" pitchFamily="34" charset="0"/>
                <a:ea typeface="Segoe UI" pitchFamily="34" charset="-122"/>
                <a:cs typeface="Segoe UI" pitchFamily="34" charset="-120"/>
              </a:rPr>
              <a:t>The placeholders are sent separately — the database never re-parses them as SQL.</a:t>
            </a:r>
            <a:endParaRPr lang="en-US" sz="1350" dirty="0"/>
          </a:p>
        </p:txBody>
      </p:sp>
      <p:sp>
        <p:nvSpPr>
          <p:cNvPr id="14" name="Text 12"/>
          <p:cNvSpPr/>
          <p:nvPr/>
        </p:nvSpPr>
        <p:spPr>
          <a:xfrm>
            <a:off x="502920" y="3749040"/>
            <a:ext cx="8138160" cy="1005840"/>
          </a:xfrm>
          <a:prstGeom prst="rect">
            <a:avLst/>
          </a:prstGeom>
          <a:noFill/>
          <a:ln/>
        </p:spPr>
        <p:txBody>
          <a:bodyPr wrap="square" rtlCol="0" anchor="t"/>
          <a:lstStyle/>
          <a:p>
            <a:pPr marL="203200" indent="-203200">
              <a:lnSpc>
                <a:spcPct val="125000"/>
              </a:lnSpc>
              <a:spcAft>
                <a:spcPts val="800"/>
              </a:spcAft>
              <a:buSzPct val="100000"/>
              <a:buChar char="▪"/>
            </a:pPr>
            <a:r>
              <a:rPr lang="en-US" sz="1350" b="1" dirty="0">
                <a:solidFill>
                  <a:srgbClr val="5A6474"/>
                </a:solidFill>
                <a:latin typeface="Segoe UI" pitchFamily="34" charset="0"/>
                <a:ea typeface="Segoe UI" pitchFamily="34" charset="-122"/>
                <a:cs typeface="Segoe UI" pitchFamily="34" charset="-120"/>
              </a:rPr>
              <a:t>Hash passwords (argon2 / bcrypt) — never store plain text</a:t>
            </a:r>
            <a:endParaRPr lang="en-US" sz="1350" dirty="0"/>
          </a:p>
          <a:p>
            <a:pPr marL="203200" indent="-203200">
              <a:lnSpc>
                <a:spcPct val="125000"/>
              </a:lnSpc>
              <a:spcAft>
                <a:spcPts val="800"/>
              </a:spcAft>
              <a:buSzPct val="100000"/>
              <a:buChar char="▪"/>
            </a:pPr>
            <a:r>
              <a:rPr lang="en-US" sz="1350" b="1" dirty="0">
                <a:solidFill>
                  <a:srgbClr val="5A6474"/>
                </a:solidFill>
                <a:latin typeface="Segoe UI" pitchFamily="34" charset="0"/>
                <a:ea typeface="Segoe UI" pitchFamily="34" charset="-122"/>
                <a:cs typeface="Segoe UI" pitchFamily="34" charset="-120"/>
              </a:rPr>
              <a:t>Give the database account only the privileges it needs</a:t>
            </a:r>
            <a:endParaRPr lang="en-US" sz="1350" dirty="0"/>
          </a:p>
          <a:p>
            <a:pPr marL="203200" indent="-203200">
              <a:lnSpc>
                <a:spcPct val="125000"/>
              </a:lnSpc>
              <a:spcAft>
                <a:spcPts val="800"/>
              </a:spcAft>
              <a:buSzPct val="100000"/>
              <a:buChar char="▪"/>
            </a:pPr>
            <a:r>
              <a:rPr lang="en-US" sz="1350" b="1" dirty="0">
                <a:solidFill>
                  <a:srgbClr val="5A6474"/>
                </a:solidFill>
                <a:latin typeface="Segoe UI" pitchFamily="34" charset="0"/>
                <a:ea typeface="Segoe UI" pitchFamily="34" charset="-122"/>
                <a:cs typeface="Segoe UI" pitchFamily="34" charset="-120"/>
              </a:rPr>
              <a:t>Show generic error messages to users, log the detail server-side</a:t>
            </a:r>
            <a:endParaRPr lang="en-US" sz="1350" dirty="0"/>
          </a:p>
          <a:p>
            <a:pPr marL="203200" indent="-203200">
              <a:lnSpc>
                <a:spcPct val="125000"/>
              </a:lnSpc>
              <a:spcAft>
                <a:spcPts val="800"/>
              </a:spcAft>
              <a:buSzPct val="100000"/>
              <a:buChar char="▪"/>
            </a:pPr>
            <a:r>
              <a:rPr lang="en-US" sz="1350" b="1" dirty="0">
                <a:solidFill>
                  <a:srgbClr val="5A6474"/>
                </a:solidFill>
                <a:latin typeface="Segoe UI" pitchFamily="34" charset="0"/>
                <a:ea typeface="Segoe UI" pitchFamily="34" charset="-122"/>
                <a:cs typeface="Segoe UI" pitchFamily="34" charset="-120"/>
              </a:rPr>
              <a:t>Validate input against an allow-list, and keep a WAF as defence in depth</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D38"/>
        </a:solidFill>
      </p:bgPr>
    </p:bg>
    <p:spTree>
      <p:nvGrpSpPr>
        <p:cNvPr id="1" name=""/>
        <p:cNvGrpSpPr/>
        <p:nvPr/>
      </p:nvGrpSpPr>
      <p:grpSpPr>
        <a:xfrm>
          <a:off x="0" y="0"/>
          <a:ext cx="0" cy="0"/>
          <a:chOff x="0" y="0"/>
          <a:chExt cx="0" cy="0"/>
        </a:xfrm>
      </p:grpSpPr>
      <p:sp>
        <p:nvSpPr>
          <p:cNvPr id="2" name="Text 0"/>
          <p:cNvSpPr/>
          <p:nvPr/>
        </p:nvSpPr>
        <p:spPr>
          <a:xfrm>
            <a:off x="502920" y="310896"/>
            <a:ext cx="8138160" cy="237744"/>
          </a:xfrm>
          <a:prstGeom prst="rect">
            <a:avLst/>
          </a:prstGeom>
          <a:noFill/>
          <a:ln/>
        </p:spPr>
        <p:txBody>
          <a:bodyPr wrap="square" rtlCol="0" anchor="ctr"/>
          <a:lstStyle/>
          <a:p>
            <a:pPr indent="0" marL="0">
              <a:buNone/>
            </a:pPr>
            <a:r>
              <a:rPr lang="en-US" sz="1050" b="1" spc="240" kern="0" dirty="0">
                <a:solidFill>
                  <a:srgbClr val="E2231A"/>
                </a:solidFill>
                <a:latin typeface="Segoe UI" pitchFamily="34" charset="0"/>
                <a:ea typeface="Segoe UI" pitchFamily="34" charset="-122"/>
                <a:cs typeface="Segoe UI" pitchFamily="34" charset="-120"/>
              </a:rPr>
              <a:t>ETHICS</a:t>
            </a:r>
            <a:endParaRPr lang="en-US" sz="1050" dirty="0"/>
          </a:p>
        </p:txBody>
      </p:sp>
      <p:sp>
        <p:nvSpPr>
          <p:cNvPr id="3" name="Text 1"/>
          <p:cNvSpPr/>
          <p:nvPr/>
        </p:nvSpPr>
        <p:spPr>
          <a:xfrm>
            <a:off x="502920" y="548640"/>
            <a:ext cx="8138160" cy="658368"/>
          </a:xfrm>
          <a:prstGeom prst="rect">
            <a:avLst/>
          </a:prstGeom>
          <a:noFill/>
          <a:ln/>
        </p:spPr>
        <p:txBody>
          <a:bodyPr wrap="square" rtlCol="0" anchor="ctr"/>
          <a:lstStyle/>
          <a:p>
            <a:pPr indent="0" marL="0">
              <a:buNone/>
            </a:pPr>
            <a:r>
              <a:rPr lang="en-US" sz="2700" b="1" dirty="0">
                <a:solidFill>
                  <a:srgbClr val="FFFFFF"/>
                </a:solidFill>
                <a:latin typeface="Segoe UI" pitchFamily="34" charset="0"/>
                <a:ea typeface="Segoe UI" pitchFamily="34" charset="-122"/>
                <a:cs typeface="Segoe UI" pitchFamily="34" charset="-120"/>
              </a:rPr>
              <a:t>Test only what you are allowed to test</a:t>
            </a:r>
            <a:endParaRPr lang="en-US" sz="2700" dirty="0"/>
          </a:p>
        </p:txBody>
      </p:sp>
      <p:sp>
        <p:nvSpPr>
          <p:cNvPr id="4" name="Shape 2"/>
          <p:cNvSpPr/>
          <p:nvPr/>
        </p:nvSpPr>
        <p:spPr>
          <a:xfrm>
            <a:off x="502920" y="1225296"/>
            <a:ext cx="1005840" cy="41148"/>
          </a:xfrm>
          <a:prstGeom prst="rect">
            <a:avLst/>
          </a:prstGeom>
          <a:solidFill>
            <a:srgbClr val="E2231A"/>
          </a:solidFill>
          <a:ln/>
        </p:spPr>
      </p:sp>
      <p:sp>
        <p:nvSpPr>
          <p:cNvPr id="5" name="Text 3"/>
          <p:cNvSpPr/>
          <p:nvPr/>
        </p:nvSpPr>
        <p:spPr>
          <a:xfrm>
            <a:off x="502920" y="4791456"/>
            <a:ext cx="6400800" cy="237744"/>
          </a:xfrm>
          <a:prstGeom prst="rect">
            <a:avLst/>
          </a:prstGeom>
          <a:noFill/>
          <a:ln/>
        </p:spPr>
        <p:txBody>
          <a:bodyPr wrap="square" rtlCol="0" anchor="ctr"/>
          <a:lstStyle/>
          <a:p>
            <a:pPr indent="0" marL="0">
              <a:buNone/>
            </a:pPr>
            <a:r>
              <a:rPr lang="en-US" sz="850" dirty="0">
                <a:solidFill>
                  <a:srgbClr val="6F82A8"/>
                </a:solidFill>
                <a:latin typeface="Segoe UI" pitchFamily="34" charset="0"/>
                <a:ea typeface="Segoe UI" pitchFamily="34" charset="-122"/>
                <a:cs typeface="Segoe UI" pitchFamily="34" charset="-120"/>
              </a:rPr>
              <a:t>JISSA  ·  SQL Injection 101  ·  simulated lab, localhost only</a:t>
            </a:r>
            <a:endParaRPr lang="en-US" sz="850" dirty="0"/>
          </a:p>
        </p:txBody>
      </p:sp>
      <p:sp>
        <p:nvSpPr>
          <p:cNvPr id="6" name="Text 4"/>
          <p:cNvSpPr/>
          <p:nvPr/>
        </p:nvSpPr>
        <p:spPr>
          <a:xfrm>
            <a:off x="8229600" y="4791456"/>
            <a:ext cx="411480" cy="237744"/>
          </a:xfrm>
          <a:prstGeom prst="rect">
            <a:avLst/>
          </a:prstGeom>
          <a:noFill/>
          <a:ln/>
        </p:spPr>
        <p:txBody>
          <a:bodyPr wrap="square" rtlCol="0" anchor="ctr"/>
          <a:lstStyle/>
          <a:p>
            <a:pPr algn="r" indent="0" marL="0">
              <a:buNone/>
            </a:pPr>
            <a:r>
              <a:rPr lang="en-US" sz="850" dirty="0">
                <a:solidFill>
                  <a:srgbClr val="6F82A8"/>
                </a:solidFill>
                <a:latin typeface="Segoe UI" pitchFamily="34" charset="0"/>
                <a:ea typeface="Segoe UI" pitchFamily="34" charset="-122"/>
                <a:cs typeface="Segoe UI" pitchFamily="34" charset="-120"/>
              </a:rPr>
              <a:t>15</a:t>
            </a:r>
            <a:endParaRPr lang="en-US" sz="850" dirty="0"/>
          </a:p>
        </p:txBody>
      </p:sp>
      <p:sp>
        <p:nvSpPr>
          <p:cNvPr id="7" name="Shape 5"/>
          <p:cNvSpPr/>
          <p:nvPr/>
        </p:nvSpPr>
        <p:spPr>
          <a:xfrm>
            <a:off x="502920" y="1508760"/>
            <a:ext cx="3977640" cy="1371600"/>
          </a:xfrm>
          <a:prstGeom prst="roundRect">
            <a:avLst>
              <a:gd name="adj" fmla="val 3333"/>
            </a:avLst>
          </a:prstGeom>
          <a:solidFill>
            <a:srgbClr val="F5F7FA"/>
          </a:solidFill>
          <a:ln w="12700">
            <a:solidFill>
              <a:srgbClr val="E2E6EC"/>
            </a:solidFill>
            <a:prstDash val="solid"/>
          </a:ln>
        </p:spPr>
      </p:sp>
      <p:sp>
        <p:nvSpPr>
          <p:cNvPr id="8" name="Shape 6"/>
          <p:cNvSpPr/>
          <p:nvPr/>
        </p:nvSpPr>
        <p:spPr>
          <a:xfrm>
            <a:off x="502920" y="1508760"/>
            <a:ext cx="45720" cy="1371600"/>
          </a:xfrm>
          <a:prstGeom prst="rect">
            <a:avLst/>
          </a:prstGeom>
          <a:solidFill>
            <a:srgbClr val="E2231A"/>
          </a:solidFill>
          <a:ln/>
        </p:spPr>
      </p:sp>
      <p:sp>
        <p:nvSpPr>
          <p:cNvPr id="9" name="Text 7"/>
          <p:cNvSpPr/>
          <p:nvPr/>
        </p:nvSpPr>
        <p:spPr>
          <a:xfrm>
            <a:off x="704088" y="1636776"/>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Authorised, always</a:t>
            </a:r>
            <a:endParaRPr lang="en-US" sz="1300" dirty="0"/>
          </a:p>
        </p:txBody>
      </p:sp>
      <p:sp>
        <p:nvSpPr>
          <p:cNvPr id="10" name="Text 8"/>
          <p:cNvSpPr/>
          <p:nvPr/>
        </p:nvSpPr>
        <p:spPr>
          <a:xfrm>
            <a:off x="704088" y="1929384"/>
            <a:ext cx="3611880" cy="8229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Written permission, a defined scope, and agreed rules of engagement — for every engagement, no exceptions.</a:t>
            </a:r>
            <a:endParaRPr lang="en-US" sz="1100" dirty="0"/>
          </a:p>
        </p:txBody>
      </p:sp>
      <p:sp>
        <p:nvSpPr>
          <p:cNvPr id="11" name="Shape 9"/>
          <p:cNvSpPr/>
          <p:nvPr/>
        </p:nvSpPr>
        <p:spPr>
          <a:xfrm>
            <a:off x="4663440" y="1508760"/>
            <a:ext cx="3977640" cy="1371600"/>
          </a:xfrm>
          <a:prstGeom prst="roundRect">
            <a:avLst>
              <a:gd name="adj" fmla="val 3333"/>
            </a:avLst>
          </a:prstGeom>
          <a:solidFill>
            <a:srgbClr val="F5F7FA"/>
          </a:solidFill>
          <a:ln w="12700">
            <a:solidFill>
              <a:srgbClr val="E2E6EC"/>
            </a:solidFill>
            <a:prstDash val="solid"/>
          </a:ln>
        </p:spPr>
      </p:sp>
      <p:sp>
        <p:nvSpPr>
          <p:cNvPr id="12" name="Shape 10"/>
          <p:cNvSpPr/>
          <p:nvPr/>
        </p:nvSpPr>
        <p:spPr>
          <a:xfrm>
            <a:off x="4663440" y="1508760"/>
            <a:ext cx="45720" cy="1371600"/>
          </a:xfrm>
          <a:prstGeom prst="rect">
            <a:avLst/>
          </a:prstGeom>
          <a:solidFill>
            <a:srgbClr val="1E9E5A"/>
          </a:solidFill>
          <a:ln/>
        </p:spPr>
      </p:sp>
      <p:sp>
        <p:nvSpPr>
          <p:cNvPr id="13" name="Text 11"/>
          <p:cNvSpPr/>
          <p:nvPr/>
        </p:nvSpPr>
        <p:spPr>
          <a:xfrm>
            <a:off x="4864608" y="1636776"/>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Your own lab is fair game</a:t>
            </a:r>
            <a:endParaRPr lang="en-US" sz="1300" dirty="0"/>
          </a:p>
        </p:txBody>
      </p:sp>
      <p:sp>
        <p:nvSpPr>
          <p:cNvPr id="14" name="Text 12"/>
          <p:cNvSpPr/>
          <p:nvPr/>
        </p:nvSpPr>
        <p:spPr>
          <a:xfrm>
            <a:off x="4864608" y="1929384"/>
            <a:ext cx="3611880" cy="8229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Local clones, deliberately vulnerable apps, CTF platforms — practise there, as much as you like.</a:t>
            </a:r>
            <a:endParaRPr lang="en-US" sz="1100" dirty="0"/>
          </a:p>
        </p:txBody>
      </p:sp>
      <p:sp>
        <p:nvSpPr>
          <p:cNvPr id="15" name="Shape 13"/>
          <p:cNvSpPr/>
          <p:nvPr/>
        </p:nvSpPr>
        <p:spPr>
          <a:xfrm>
            <a:off x="502920" y="3017520"/>
            <a:ext cx="3977640" cy="1371600"/>
          </a:xfrm>
          <a:prstGeom prst="roundRect">
            <a:avLst>
              <a:gd name="adj" fmla="val 3333"/>
            </a:avLst>
          </a:prstGeom>
          <a:solidFill>
            <a:srgbClr val="F5F7FA"/>
          </a:solidFill>
          <a:ln w="12700">
            <a:solidFill>
              <a:srgbClr val="E2E6EC"/>
            </a:solidFill>
            <a:prstDash val="solid"/>
          </a:ln>
        </p:spPr>
      </p:sp>
      <p:sp>
        <p:nvSpPr>
          <p:cNvPr id="16" name="Shape 14"/>
          <p:cNvSpPr/>
          <p:nvPr/>
        </p:nvSpPr>
        <p:spPr>
          <a:xfrm>
            <a:off x="502920" y="3017520"/>
            <a:ext cx="45720" cy="1371600"/>
          </a:xfrm>
          <a:prstGeom prst="rect">
            <a:avLst/>
          </a:prstGeom>
          <a:solidFill>
            <a:srgbClr val="5A6474"/>
          </a:solidFill>
          <a:ln/>
        </p:spPr>
      </p:sp>
      <p:sp>
        <p:nvSpPr>
          <p:cNvPr id="17" name="Text 15"/>
          <p:cNvSpPr/>
          <p:nvPr/>
        </p:nvSpPr>
        <p:spPr>
          <a:xfrm>
            <a:off x="704088" y="3145536"/>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Everything else is a crime</a:t>
            </a:r>
            <a:endParaRPr lang="en-US" sz="1300" dirty="0"/>
          </a:p>
        </p:txBody>
      </p:sp>
      <p:sp>
        <p:nvSpPr>
          <p:cNvPr id="18" name="Text 16"/>
          <p:cNvSpPr/>
          <p:nvPr/>
        </p:nvSpPr>
        <p:spPr>
          <a:xfrm>
            <a:off x="704088" y="3438144"/>
            <a:ext cx="3611880" cy="8229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“I was just curious” is not a defence. Unauthorised access violates the Cybercrime Prevention Act — it can end your career before it starts.</a:t>
            </a:r>
            <a:endParaRPr lang="en-US" sz="1100" dirty="0"/>
          </a:p>
        </p:txBody>
      </p:sp>
      <p:sp>
        <p:nvSpPr>
          <p:cNvPr id="19" name="Shape 17"/>
          <p:cNvSpPr/>
          <p:nvPr/>
        </p:nvSpPr>
        <p:spPr>
          <a:xfrm>
            <a:off x="4663440" y="3017520"/>
            <a:ext cx="3977640" cy="1371600"/>
          </a:xfrm>
          <a:prstGeom prst="roundRect">
            <a:avLst>
              <a:gd name="adj" fmla="val 3333"/>
            </a:avLst>
          </a:prstGeom>
          <a:solidFill>
            <a:srgbClr val="F5F7FA"/>
          </a:solidFill>
          <a:ln w="12700">
            <a:solidFill>
              <a:srgbClr val="E2E6EC"/>
            </a:solidFill>
            <a:prstDash val="solid"/>
          </a:ln>
        </p:spPr>
      </p:sp>
      <p:sp>
        <p:nvSpPr>
          <p:cNvPr id="20" name="Shape 18"/>
          <p:cNvSpPr/>
          <p:nvPr/>
        </p:nvSpPr>
        <p:spPr>
          <a:xfrm>
            <a:off x="4663440" y="3017520"/>
            <a:ext cx="45720" cy="1371600"/>
          </a:xfrm>
          <a:prstGeom prst="rect">
            <a:avLst/>
          </a:prstGeom>
          <a:solidFill>
            <a:srgbClr val="123156"/>
          </a:solidFill>
          <a:ln/>
        </p:spPr>
      </p:sp>
      <p:sp>
        <p:nvSpPr>
          <p:cNvPr id="21" name="Text 19"/>
          <p:cNvSpPr/>
          <p:nvPr/>
        </p:nvSpPr>
        <p:spPr>
          <a:xfrm>
            <a:off x="4864608" y="3145536"/>
            <a:ext cx="3611880" cy="274320"/>
          </a:xfrm>
          <a:prstGeom prst="rect">
            <a:avLst/>
          </a:prstGeom>
          <a:noFill/>
          <a:ln/>
        </p:spPr>
        <p:txBody>
          <a:bodyPr wrap="square" rtlCol="0" anchor="ctr"/>
          <a:lstStyle/>
          <a:p>
            <a:pPr indent="0" marL="0">
              <a:buNone/>
            </a:pPr>
            <a:r>
              <a:rPr lang="en-US" sz="1300" b="1" dirty="0">
                <a:solidFill>
                  <a:srgbClr val="1B1B1B"/>
                </a:solidFill>
                <a:latin typeface="Segoe UI" pitchFamily="34" charset="0"/>
                <a:ea typeface="Segoe UI" pitchFamily="34" charset="-122"/>
                <a:cs typeface="Segoe UI" pitchFamily="34" charset="-120"/>
              </a:rPr>
              <a:t>Report, do not exploit</a:t>
            </a:r>
            <a:endParaRPr lang="en-US" sz="1300" dirty="0"/>
          </a:p>
        </p:txBody>
      </p:sp>
      <p:sp>
        <p:nvSpPr>
          <p:cNvPr id="22" name="Text 20"/>
          <p:cNvSpPr/>
          <p:nvPr/>
        </p:nvSpPr>
        <p:spPr>
          <a:xfrm>
            <a:off x="4864608" y="3438144"/>
            <a:ext cx="3611880" cy="822960"/>
          </a:xfrm>
          <a:prstGeom prst="rect">
            <a:avLst/>
          </a:prstGeom>
          <a:noFill/>
          <a:ln/>
        </p:spPr>
        <p:txBody>
          <a:bodyPr wrap="square" rtlCol="0" anchor="t"/>
          <a:lstStyle/>
          <a:p>
            <a:pPr indent="0" marL="0">
              <a:lnSpc>
                <a:spcPct val="120000"/>
              </a:lnSpc>
              <a:buNone/>
            </a:pPr>
            <a:r>
              <a:rPr lang="en-US" sz="1100" dirty="0">
                <a:solidFill>
                  <a:srgbClr val="5A6474"/>
                </a:solidFill>
                <a:latin typeface="Segoe UI" pitchFamily="34" charset="0"/>
                <a:ea typeface="Segoe UI" pitchFamily="34" charset="-122"/>
                <a:cs typeface="Segoe UI" pitchFamily="34" charset="-120"/>
              </a:rPr>
              <a:t>Found something real? Tell the owner privately. Responsible disclosure protects students, staff and your record.</a:t>
            </a:r>
            <a:endParaRPr lang="en-US" sz="1100" dirty="0"/>
          </a:p>
        </p:txBody>
      </p:sp>
      <p:sp>
        <p:nvSpPr>
          <p:cNvPr id="23" name="Text 21"/>
          <p:cNvSpPr/>
          <p:nvPr/>
        </p:nvSpPr>
        <p:spPr>
          <a:xfrm>
            <a:off x="502920" y="4526280"/>
            <a:ext cx="8138160" cy="274320"/>
          </a:xfrm>
          <a:prstGeom prst="rect">
            <a:avLst/>
          </a:prstGeom>
          <a:noFill/>
          <a:ln/>
        </p:spPr>
        <p:txBody>
          <a:bodyPr wrap="square" rtlCol="0" anchor="ctr"/>
          <a:lstStyle/>
          <a:p>
            <a:pPr algn="ctr" indent="0" marL="0">
              <a:buNone/>
            </a:pPr>
            <a:r>
              <a:rPr lang="en-US" sz="1050" dirty="0">
                <a:solidFill>
                  <a:srgbClr val="8FA3CC"/>
                </a:solidFill>
                <a:latin typeface="Consolas" pitchFamily="34" charset="0"/>
                <a:ea typeface="Consolas" pitchFamily="34" charset="-122"/>
                <a:cs typeface="Consolas" pitchFamily="34" charset="-120"/>
              </a:rPr>
              <a:t>Practise legally:  PortSwigger Web Security Academy  ·  DVWA  ·  SQLi-Labs  ·  Hack The Box  ·  TryHackMe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2231A"/>
        </a:solidFill>
      </p:bgPr>
    </p:bg>
    <p:spTree>
      <p:nvGrpSpPr>
        <p:cNvPr id="1" name=""/>
        <p:cNvGrpSpPr/>
        <p:nvPr/>
      </p:nvGrpSpPr>
      <p:grpSpPr>
        <a:xfrm>
          <a:off x="0" y="0"/>
          <a:ext cx="0" cy="0"/>
          <a:chOff x="0" y="0"/>
          <a:chExt cx="0" cy="0"/>
        </a:xfrm>
      </p:grpSpPr>
      <p:sp>
        <p:nvSpPr>
          <p:cNvPr id="2" name="Text 0"/>
          <p:cNvSpPr/>
          <p:nvPr/>
        </p:nvSpPr>
        <p:spPr>
          <a:xfrm>
            <a:off x="640080" y="640080"/>
            <a:ext cx="7863840" cy="73152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Recap</a:t>
            </a:r>
            <a:endParaRPr lang="en-US" sz="4000" dirty="0"/>
          </a:p>
        </p:txBody>
      </p:sp>
      <p:sp>
        <p:nvSpPr>
          <p:cNvPr id="3" name="Shape 1"/>
          <p:cNvSpPr/>
          <p:nvPr/>
        </p:nvSpPr>
        <p:spPr>
          <a:xfrm>
            <a:off x="640080" y="1517904"/>
            <a:ext cx="658368" cy="438912"/>
          </a:xfrm>
          <a:prstGeom prst="roundRect">
            <a:avLst>
              <a:gd name="adj" fmla="val 12500"/>
            </a:avLst>
          </a:prstGeom>
          <a:solidFill>
            <a:srgbClr val="FFFFFF"/>
          </a:solidFill>
          <a:ln/>
        </p:spPr>
      </p:sp>
      <p:sp>
        <p:nvSpPr>
          <p:cNvPr id="4" name="Text 2"/>
          <p:cNvSpPr/>
          <p:nvPr/>
        </p:nvSpPr>
        <p:spPr>
          <a:xfrm>
            <a:off x="640080" y="1517904"/>
            <a:ext cx="658368" cy="438912"/>
          </a:xfrm>
          <a:prstGeom prst="rect">
            <a:avLst/>
          </a:prstGeom>
          <a:noFill/>
          <a:ln/>
        </p:spPr>
        <p:txBody>
          <a:bodyPr wrap="square" rtlCol="0" anchor="ctr"/>
          <a:lstStyle/>
          <a:p>
            <a:pPr algn="ctr" indent="0" marL="0">
              <a:buNone/>
            </a:pPr>
            <a:r>
              <a:rPr lang="en-US" sz="1300" b="1" dirty="0">
                <a:solidFill>
                  <a:srgbClr val="E2231A"/>
                </a:solidFill>
                <a:latin typeface="Segoe UI" pitchFamily="34" charset="0"/>
                <a:ea typeface="Segoe UI" pitchFamily="34" charset="-122"/>
                <a:cs typeface="Segoe UI" pitchFamily="34" charset="-120"/>
              </a:rPr>
              <a:t>Q1</a:t>
            </a:r>
            <a:endParaRPr lang="en-US" sz="1300" dirty="0"/>
          </a:p>
        </p:txBody>
      </p:sp>
      <p:sp>
        <p:nvSpPr>
          <p:cNvPr id="5" name="Text 3"/>
          <p:cNvSpPr/>
          <p:nvPr/>
        </p:nvSpPr>
        <p:spPr>
          <a:xfrm>
            <a:off x="1463040" y="1517904"/>
            <a:ext cx="7040880" cy="438912"/>
          </a:xfrm>
          <a:prstGeom prst="rect">
            <a:avLst/>
          </a:prstGeom>
          <a:noFill/>
          <a:ln/>
        </p:spPr>
        <p:txBody>
          <a:bodyPr wrap="square"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What does the single quote in  ' OR 1=1--  actually do?</a:t>
            </a:r>
            <a:endParaRPr lang="en-US" sz="1500" dirty="0"/>
          </a:p>
        </p:txBody>
      </p:sp>
      <p:sp>
        <p:nvSpPr>
          <p:cNvPr id="6" name="Shape 4"/>
          <p:cNvSpPr/>
          <p:nvPr/>
        </p:nvSpPr>
        <p:spPr>
          <a:xfrm>
            <a:off x="640080" y="2084832"/>
            <a:ext cx="658368" cy="438912"/>
          </a:xfrm>
          <a:prstGeom prst="roundRect">
            <a:avLst>
              <a:gd name="adj" fmla="val 12500"/>
            </a:avLst>
          </a:prstGeom>
          <a:solidFill>
            <a:srgbClr val="FFFFFF"/>
          </a:solidFill>
          <a:ln/>
        </p:spPr>
      </p:sp>
      <p:sp>
        <p:nvSpPr>
          <p:cNvPr id="7" name="Text 5"/>
          <p:cNvSpPr/>
          <p:nvPr/>
        </p:nvSpPr>
        <p:spPr>
          <a:xfrm>
            <a:off x="640080" y="2084832"/>
            <a:ext cx="658368" cy="438912"/>
          </a:xfrm>
          <a:prstGeom prst="rect">
            <a:avLst/>
          </a:prstGeom>
          <a:noFill/>
          <a:ln/>
        </p:spPr>
        <p:txBody>
          <a:bodyPr wrap="square" rtlCol="0" anchor="ctr"/>
          <a:lstStyle/>
          <a:p>
            <a:pPr algn="ctr" indent="0" marL="0">
              <a:buNone/>
            </a:pPr>
            <a:r>
              <a:rPr lang="en-US" sz="1300" b="1" dirty="0">
                <a:solidFill>
                  <a:srgbClr val="E2231A"/>
                </a:solidFill>
                <a:latin typeface="Segoe UI" pitchFamily="34" charset="0"/>
                <a:ea typeface="Segoe UI" pitchFamily="34" charset="-122"/>
                <a:cs typeface="Segoe UI" pitchFamily="34" charset="-120"/>
              </a:rPr>
              <a:t>Q2</a:t>
            </a:r>
            <a:endParaRPr lang="en-US" sz="1300" dirty="0"/>
          </a:p>
        </p:txBody>
      </p:sp>
      <p:sp>
        <p:nvSpPr>
          <p:cNvPr id="8" name="Text 6"/>
          <p:cNvSpPr/>
          <p:nvPr/>
        </p:nvSpPr>
        <p:spPr>
          <a:xfrm>
            <a:off x="1463040" y="2084832"/>
            <a:ext cx="7040880" cy="438912"/>
          </a:xfrm>
          <a:prstGeom prst="rect">
            <a:avLst/>
          </a:prstGeom>
          <a:noFill/>
          <a:ln/>
        </p:spPr>
        <p:txBody>
          <a:bodyPr wrap="square"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Why does blind injection need ~90 requests to recover one password?</a:t>
            </a:r>
            <a:endParaRPr lang="en-US" sz="1500" dirty="0"/>
          </a:p>
        </p:txBody>
      </p:sp>
      <p:sp>
        <p:nvSpPr>
          <p:cNvPr id="9" name="Shape 7"/>
          <p:cNvSpPr/>
          <p:nvPr/>
        </p:nvSpPr>
        <p:spPr>
          <a:xfrm>
            <a:off x="640080" y="2651760"/>
            <a:ext cx="658368" cy="438912"/>
          </a:xfrm>
          <a:prstGeom prst="roundRect">
            <a:avLst>
              <a:gd name="adj" fmla="val 12500"/>
            </a:avLst>
          </a:prstGeom>
          <a:solidFill>
            <a:srgbClr val="FFFFFF"/>
          </a:solidFill>
          <a:ln/>
        </p:spPr>
      </p:sp>
      <p:sp>
        <p:nvSpPr>
          <p:cNvPr id="10" name="Text 8"/>
          <p:cNvSpPr/>
          <p:nvPr/>
        </p:nvSpPr>
        <p:spPr>
          <a:xfrm>
            <a:off x="640080" y="2651760"/>
            <a:ext cx="658368" cy="438912"/>
          </a:xfrm>
          <a:prstGeom prst="rect">
            <a:avLst/>
          </a:prstGeom>
          <a:noFill/>
          <a:ln/>
        </p:spPr>
        <p:txBody>
          <a:bodyPr wrap="square" rtlCol="0" anchor="ctr"/>
          <a:lstStyle/>
          <a:p>
            <a:pPr algn="ctr" indent="0" marL="0">
              <a:buNone/>
            </a:pPr>
            <a:r>
              <a:rPr lang="en-US" sz="1300" b="1" dirty="0">
                <a:solidFill>
                  <a:srgbClr val="E2231A"/>
                </a:solidFill>
                <a:latin typeface="Segoe UI" pitchFamily="34" charset="0"/>
                <a:ea typeface="Segoe UI" pitchFamily="34" charset="-122"/>
                <a:cs typeface="Segoe UI" pitchFamily="34" charset="-120"/>
              </a:rPr>
              <a:t>Q3</a:t>
            </a:r>
            <a:endParaRPr lang="en-US" sz="1300" dirty="0"/>
          </a:p>
        </p:txBody>
      </p:sp>
      <p:sp>
        <p:nvSpPr>
          <p:cNvPr id="11" name="Text 9"/>
          <p:cNvSpPr/>
          <p:nvPr/>
        </p:nvSpPr>
        <p:spPr>
          <a:xfrm>
            <a:off x="1463040" y="2651760"/>
            <a:ext cx="7040880" cy="438912"/>
          </a:xfrm>
          <a:prstGeom prst="rect">
            <a:avLst/>
          </a:prstGeom>
          <a:noFill/>
          <a:ln/>
        </p:spPr>
        <p:txBody>
          <a:bodyPr wrap="square"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What is the one-line fix that defeats all four attacks?</a:t>
            </a:r>
            <a:endParaRPr lang="en-US" sz="1500" dirty="0"/>
          </a:p>
        </p:txBody>
      </p:sp>
      <p:sp>
        <p:nvSpPr>
          <p:cNvPr id="12" name="Shape 10"/>
          <p:cNvSpPr/>
          <p:nvPr/>
        </p:nvSpPr>
        <p:spPr>
          <a:xfrm>
            <a:off x="640080" y="3218688"/>
            <a:ext cx="658368" cy="438912"/>
          </a:xfrm>
          <a:prstGeom prst="roundRect">
            <a:avLst>
              <a:gd name="adj" fmla="val 12500"/>
            </a:avLst>
          </a:prstGeom>
          <a:solidFill>
            <a:srgbClr val="FFFFFF"/>
          </a:solidFill>
          <a:ln/>
        </p:spPr>
      </p:sp>
      <p:sp>
        <p:nvSpPr>
          <p:cNvPr id="13" name="Text 11"/>
          <p:cNvSpPr/>
          <p:nvPr/>
        </p:nvSpPr>
        <p:spPr>
          <a:xfrm>
            <a:off x="640080" y="3218688"/>
            <a:ext cx="658368" cy="438912"/>
          </a:xfrm>
          <a:prstGeom prst="rect">
            <a:avLst/>
          </a:prstGeom>
          <a:noFill/>
          <a:ln/>
        </p:spPr>
        <p:txBody>
          <a:bodyPr wrap="square" rtlCol="0" anchor="ctr"/>
          <a:lstStyle/>
          <a:p>
            <a:pPr algn="ctr" indent="0" marL="0">
              <a:buNone/>
            </a:pPr>
            <a:r>
              <a:rPr lang="en-US" sz="1300" b="1" dirty="0">
                <a:solidFill>
                  <a:srgbClr val="E2231A"/>
                </a:solidFill>
                <a:latin typeface="Segoe UI" pitchFamily="34" charset="0"/>
                <a:ea typeface="Segoe UI" pitchFamily="34" charset="-122"/>
                <a:cs typeface="Segoe UI" pitchFamily="34" charset="-120"/>
              </a:rPr>
              <a:t>Q4</a:t>
            </a:r>
            <a:endParaRPr lang="en-US" sz="1300" dirty="0"/>
          </a:p>
        </p:txBody>
      </p:sp>
      <p:sp>
        <p:nvSpPr>
          <p:cNvPr id="14" name="Text 12"/>
          <p:cNvSpPr/>
          <p:nvPr/>
        </p:nvSpPr>
        <p:spPr>
          <a:xfrm>
            <a:off x="1463040" y="3218688"/>
            <a:ext cx="7040880" cy="438912"/>
          </a:xfrm>
          <a:prstGeom prst="rect">
            <a:avLst/>
          </a:prstGeom>
          <a:noFill/>
          <a:ln/>
        </p:spPr>
        <p:txBody>
          <a:bodyPr wrap="square"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Which layer is allowed to know the table and column names?</a:t>
            </a:r>
            <a:endParaRPr lang="en-US" sz="1500" dirty="0"/>
          </a:p>
        </p:txBody>
      </p:sp>
      <p:sp>
        <p:nvSpPr>
          <p:cNvPr id="15" name="Shape 13"/>
          <p:cNvSpPr/>
          <p:nvPr/>
        </p:nvSpPr>
        <p:spPr>
          <a:xfrm>
            <a:off x="640080" y="3886200"/>
            <a:ext cx="7863840" cy="27432"/>
          </a:xfrm>
          <a:prstGeom prst="rect">
            <a:avLst/>
          </a:prstGeom>
          <a:solidFill>
            <a:srgbClr val="FFFFFF"/>
          </a:solidFill>
          <a:ln/>
        </p:spPr>
      </p:sp>
      <p:sp>
        <p:nvSpPr>
          <p:cNvPr id="16" name="Text 14"/>
          <p:cNvSpPr/>
          <p:nvPr/>
        </p:nvSpPr>
        <p:spPr>
          <a:xfrm>
            <a:off x="640080" y="4069080"/>
            <a:ext cx="7863840" cy="45720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JISSA  </a:t>
            </a:r>
            <a:pPr indent="0" marL="0">
              <a:buNone/>
            </a:pPr>
            <a:r>
              <a:rPr lang="en-US" sz="1500" dirty="0">
                <a:solidFill>
                  <a:srgbClr val="FFE0DE"/>
                </a:solidFill>
                <a:latin typeface="Segoe UI" pitchFamily="34" charset="0"/>
                <a:ea typeface="Segoe UI" pitchFamily="34" charset="-122"/>
                <a:cs typeface="Segoe UI" pitchFamily="34" charset="-120"/>
              </a:rPr>
              <a:t>— Junior Information Systems Security Association</a:t>
            </a:r>
            <a:endParaRPr lang="en-US" sz="2400" dirty="0"/>
          </a:p>
        </p:txBody>
      </p:sp>
      <p:sp>
        <p:nvSpPr>
          <p:cNvPr id="17" name="Text 15"/>
          <p:cNvSpPr/>
          <p:nvPr/>
        </p:nvSpPr>
        <p:spPr>
          <a:xfrm>
            <a:off x="640080" y="4526280"/>
            <a:ext cx="7863840" cy="365760"/>
          </a:xfrm>
          <a:prstGeom prst="rect">
            <a:avLst/>
          </a:prstGeom>
          <a:noFill/>
          <a:ln/>
        </p:spPr>
        <p:txBody>
          <a:bodyPr wrap="square" rtlCol="0" anchor="ctr"/>
          <a:lstStyle/>
          <a:p>
            <a:pPr indent="0" marL="0">
              <a:buNone/>
            </a:pPr>
            <a:r>
              <a:rPr lang="en-US" sz="1300" dirty="0">
                <a:solidFill>
                  <a:srgbClr val="FFE0DE"/>
                </a:solidFill>
                <a:latin typeface="Segoe UI" pitchFamily="34" charset="0"/>
                <a:ea typeface="Segoe UI" pitchFamily="34" charset="-122"/>
                <a:cs typeface="Segoe UI" pitchFamily="34" charset="-120"/>
              </a:rPr>
              <a:t>Questions?  ·  Bring your laptop to the hands-on session and break a clone with us.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JISSA — ethical hacking organization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Injection 101</dc:title>
  <dc:subject>PptxGenJS Presentation</dc:subject>
  <dc:creator>JISSA</dc:creator>
  <cp:lastModifiedBy>JISSA</cp:lastModifiedBy>
  <cp:revision>1</cp:revision>
  <dcterms:created xsi:type="dcterms:W3CDTF">2026-10-12T14:05:48Z</dcterms:created>
  <dcterms:modified xsi:type="dcterms:W3CDTF">2026-10-12T14:05:48Z</dcterms:modified>
</cp:coreProperties>
</file>